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db637be-94d1-91a4-6b57-08f7e8c83ab0}">
          <p14:sldIdLst>
            <p14:sldId id="256"/>
            <p14:sldId id="257"/>
          </p14:sldIdLst>
        </p14:section>
        <p14:section name="Problem and need" id="{4299cb7e-4b97-1bbd-67a2-f92a19eb3537}">
          <p14:sldIdLst>
            <p14:sldId id="258"/>
            <p14:sldId id="259"/>
          </p14:sldIdLst>
        </p14:section>
        <p14:section name="Solution" id="{2db5a20a-f254-520d-7aa2-af7d84bbf2cf}">
          <p14:sldIdLst>
            <p14:sldId id="260"/>
            <p14:sldId id="261"/>
            <p14:sldId id="262"/>
          </p14:sldIdLst>
        </p14:section>
        <p14:section name="How it works" id="{150d66e4-4f7e-7101-7f88-ed3b01397f45}">
          <p14:sldIdLst>
            <p14:sldId id="263"/>
            <p14:sldId id="264"/>
            <p14:sldId id="265"/>
          </p14:sldIdLst>
        </p14:section>
        <p14:section name="Results" id="{e83d8cbe-ecec-9921-00b7-938db3c90033}">
          <p14:sldIdLst>
            <p14:sldId id="266"/>
            <p14:sldId id="267"/>
          </p14:sldIdLst>
        </p14:section>
        <p14:section name="Wrap-up" id="{9e75bbcf-af63-b747-3980-1a0e47b2e769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6B3C"/>
              </a:solidFill>
              <a:effectLst/>
            </c:spPr>
          </c:dPt>
          <c:dPt>
            <c:idx val="1"/>
            <c:bubble3D val="0"/>
            <c:spPr>
              <a:solidFill>
                <a:srgbClr val="D7E6D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5291E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5291E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Real (Kaggle)</c:v>
                </c:pt>
                <c:pt idx="1">
                  <c:v>Synthetic (labelled)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19689</c:v>
                </c:pt>
                <c:pt idx="1">
                  <c:v>35311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5291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5291E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5291E"/>
                </a:solidFill>
                <a:latin typeface="+mn-lt"/>
              </a:rPr>
              <a:t>Retrieval quality (run eval-20261009-161607)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3E9B6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5291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E9B6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E9B6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6B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6B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6B3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Precision@10</c:v>
                  </c:pt>
                  <c:pt idx="1">
                    <c:v>Recall@10</c:v>
                  </c:pt>
                  <c:pt idx="2">
                    <c:v>MRR</c:v>
                  </c:pt>
                  <c:pt idx="3">
                    <c:v>Hit rate@10</c:v>
                  </c:pt>
                  <c:pt idx="4">
                    <c:v>Constraint satisfaction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0.756</c:v>
                </c:pt>
                <c:pt idx="1">
                  <c:v>0.747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200" u="none">
                  <a:solidFill>
                    <a:srgbClr val="15291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5291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9525" cap="flat">
              <a:solidFill>
                <a:srgbClr val="E3E9E1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74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TerraMind AI: a crop advisory assistant that answers natural-language farming questions with evidence drawn from real historical cases. One line on the motivation: advisers need fast, traceable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summary. Four numbers to remember: 55,000 indexed cases (with the real/synthetic split stated up front), 7 agents, R² 0.968 on a held-out future period, and 31/31 evaluation test cases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pain: manual search through records. Emphasise traceability: the goal is not just an answer, but an answer you can check against real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requirements shaped every design decision: speed, transparency, honesty about uncertainty, and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building blocks. Retrieval and the agent layer are the core (highlighted); models, Claude, the app and the evaluation pipeline support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only about 36% of rows are real. Synthetic rows are there to exercise retrieval at scale, are always labelled, and never touch model testing or reported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data, preparation and indexing, the multi-agent core, the FastAPI layer and the React UI. Security: retrieved records are passed to Claude as untrusted data blocks and the API key never leaves the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hybrid: keywords catch exact crop/state names, embeddings catch paraphrases. Filters run before ranking so results always respect hard constraints. RRF with k = 60 merges the two ranked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1 to 3 run in sequence. Agents 4 to 6 run in parallel; a failing optional agent does not discard the others. Agent 7 validates everything before advice reaches the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predicted yield is always labelled as a model estimate, separate from observed historical yield. The temporal split tests on future years the model never saw. Interval coverage is honestly reported below nominal.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come from run eval-20261009-161607. Precision@10 looks lower only because many queries have just 3 or 4 relevant cases; MRR and hit rate are perfect. DeepEval was not run, and we say so instead of estimating.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script. Ask the Punjab Rabi question, watch the real stage progress across all seven stages, open a supporting case, compare actual and predicted yield, read the risk factors, then submit feedback and show it on Insights.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challenge was met with a fix that keeps the system honest. Close with the three next steps that would most improve the advice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three takeaways and open the floor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RRA_TITLE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48840"/>
            <a:ext cx="6035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154680"/>
            <a:ext cx="5852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RR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TerraMind AI  ·  Capstone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RRA_CLOSING">
    <p:bg>
      <p:bgPr>
        <a:solidFill>
          <a:srgbClr val="0D28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5486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240280"/>
            <a:ext cx="5486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image" Target="../media/image-6-5.png"/><Relationship Id="rId7" Type="http://schemas.openxmlformats.org/officeDocument/2006/relationships/image" Target="../media/image-6-6.png"/><Relationship Id="rId8" Type="http://schemas.openxmlformats.org/officeDocument/2006/relationships/image" Target="../media/image-6-7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chemeClr val="accent2"/>
                </a:solidFill>
              </a:rPr>
              <a:t>CAPSTONE PROJECT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1488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TerraMind AI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1546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AI-powered crop advisory assistant</a:t>
            </a:r>
            <a:endParaRPr lang="en-US" sz="2200" dirty="0"/>
          </a:p>
        </p:txBody>
      </p:sp>
      <p:sp>
        <p:nvSpPr>
          <p:cNvPr id="5" name="Tagline"/>
          <p:cNvSpPr txBox="1"/>
          <p:nvPr/>
        </p:nvSpPr>
        <p:spPr>
          <a:xfrm>
            <a:off x="640080" y="3840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Smarter crop decisions. Evidence-driven farming.</a:t>
            </a:r>
            <a:endParaRPr lang="en-US" sz="1600" dirty="0"/>
          </a:p>
        </p:txBody>
      </p:sp>
      <p:sp>
        <p:nvSpPr>
          <p:cNvPr id="6" name="Pill 1"/>
          <p:cNvSpPr/>
          <p:nvPr/>
        </p:nvSpPr>
        <p:spPr>
          <a:xfrm>
            <a:off x="640080" y="4846320"/>
            <a:ext cx="1216152" cy="347472"/>
          </a:xfrm>
          <a:prstGeom prst="roundRect">
            <a:avLst>
              <a:gd name="adj" fmla="val 44737"/>
            </a:avLst>
          </a:prstGeom>
          <a:solidFill>
            <a:srgbClr val="0D2818"/>
          </a:solidFill>
          <a:ln w="12700">
            <a:solidFill>
              <a:srgbClr val="3E9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Hybrid RAG</a:t>
            </a:r>
            <a:endParaRPr lang="en-US" sz="1200" dirty="0"/>
          </a:p>
        </p:txBody>
      </p:sp>
      <p:sp>
        <p:nvSpPr>
          <p:cNvPr id="7" name="Pill 2"/>
          <p:cNvSpPr/>
          <p:nvPr/>
        </p:nvSpPr>
        <p:spPr>
          <a:xfrm>
            <a:off x="1993392" y="4846320"/>
            <a:ext cx="1312164" cy="347472"/>
          </a:xfrm>
          <a:prstGeom prst="roundRect">
            <a:avLst>
              <a:gd name="adj" fmla="val 44737"/>
            </a:avLst>
          </a:prstGeom>
          <a:solidFill>
            <a:srgbClr val="0D2818"/>
          </a:solidFill>
          <a:ln w="12700">
            <a:solidFill>
              <a:srgbClr val="3E9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7 AI agents</a:t>
            </a:r>
            <a:endParaRPr lang="en-US" sz="1200" dirty="0"/>
          </a:p>
        </p:txBody>
      </p:sp>
      <p:sp>
        <p:nvSpPr>
          <p:cNvPr id="8" name="Pill 3"/>
          <p:cNvSpPr/>
          <p:nvPr/>
        </p:nvSpPr>
        <p:spPr>
          <a:xfrm>
            <a:off x="3442716" y="4846320"/>
            <a:ext cx="1312164" cy="347472"/>
          </a:xfrm>
          <a:prstGeom prst="roundRect">
            <a:avLst>
              <a:gd name="adj" fmla="val 44737"/>
            </a:avLst>
          </a:prstGeom>
          <a:solidFill>
            <a:srgbClr val="0D2818"/>
          </a:solidFill>
          <a:ln w="12700">
            <a:solidFill>
              <a:srgbClr val="3E9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Yield model</a:t>
            </a:r>
            <a:endParaRPr lang="en-US" sz="1200" dirty="0"/>
          </a:p>
        </p:txBody>
      </p:sp>
      <p:sp>
        <p:nvSpPr>
          <p:cNvPr id="9" name="Pill 4"/>
          <p:cNvSpPr/>
          <p:nvPr/>
        </p:nvSpPr>
        <p:spPr>
          <a:xfrm>
            <a:off x="4892040" y="4846320"/>
            <a:ext cx="1408176" cy="347472"/>
          </a:xfrm>
          <a:prstGeom prst="roundRect">
            <a:avLst>
              <a:gd name="adj" fmla="val 44737"/>
            </a:avLst>
          </a:prstGeom>
          <a:solidFill>
            <a:srgbClr val="0D2818"/>
          </a:solidFill>
          <a:ln w="12700">
            <a:solidFill>
              <a:srgbClr val="3E9B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LLM-as-judge</a:t>
            </a:r>
            <a:endParaRPr lang="en-US" sz="1200" dirty="0"/>
          </a:p>
        </p:txBody>
      </p:sp>
      <p:pic>
        <p:nvPicPr>
          <p:cNvPr id="10" name="Dashboard screenshot" descr="TerraMind AI dashbo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1417320"/>
            <a:ext cx="4846320" cy="3115491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Plain-language questions in, evidence-backed crop advice out</a:t>
            </a:r>
            <a:endParaRPr lang="en-US" sz="2800" dirty="0"/>
          </a:p>
        </p:txBody>
      </p:sp>
      <p:sp>
        <p:nvSpPr>
          <p:cNvPr id="4" name="Stat card 1"/>
          <p:cNvSpPr/>
          <p:nvPr/>
        </p:nvSpPr>
        <p:spPr>
          <a:xfrm>
            <a:off x="548640" y="160020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EEF4EC"/>
          </a:solidFill>
          <a:ln/>
        </p:spPr>
      </p:sp>
      <p:sp>
        <p:nvSpPr>
          <p:cNvPr id="5" name="Stat 1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6" name="Sta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011680"/>
            <a:ext cx="274320" cy="274320"/>
          </a:xfrm>
          <a:prstGeom prst="rect">
            <a:avLst/>
          </a:prstGeom>
        </p:spPr>
      </p:pic>
      <p:sp>
        <p:nvSpPr>
          <p:cNvPr id="7" name="Stat value 1"/>
          <p:cNvSpPr txBox="1"/>
          <p:nvPr/>
        </p:nvSpPr>
        <p:spPr>
          <a:xfrm>
            <a:off x="822960" y="2514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55,000</a:t>
            </a:r>
            <a:endParaRPr lang="en-US" sz="4000" dirty="0"/>
          </a:p>
        </p:txBody>
      </p:sp>
      <p:sp>
        <p:nvSpPr>
          <p:cNvPr id="8" name="Stat label 1"/>
          <p:cNvSpPr txBox="1"/>
          <p:nvPr/>
        </p:nvSpPr>
        <p:spPr>
          <a:xfrm>
            <a:off x="822960" y="3136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cases indexed</a:t>
            </a:r>
            <a:endParaRPr lang="en-US" sz="1500" dirty="0"/>
          </a:p>
        </p:txBody>
      </p:sp>
      <p:sp>
        <p:nvSpPr>
          <p:cNvPr id="9" name="Stat caption 1"/>
          <p:cNvSpPr txBox="1"/>
          <p:nvPr/>
        </p:nvSpPr>
        <p:spPr>
          <a:xfrm>
            <a:off x="822960" y="34107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19,689 real + 35,311 labelled synthetic</a:t>
            </a:r>
            <a:endParaRPr lang="en-US" sz="1200" dirty="0"/>
          </a:p>
        </p:txBody>
      </p:sp>
      <p:sp>
        <p:nvSpPr>
          <p:cNvPr id="10" name="Stat card 2"/>
          <p:cNvSpPr/>
          <p:nvPr/>
        </p:nvSpPr>
        <p:spPr>
          <a:xfrm>
            <a:off x="3367735" y="160020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EEF4EC"/>
          </a:solidFill>
          <a:ln/>
        </p:spPr>
      </p:sp>
      <p:sp>
        <p:nvSpPr>
          <p:cNvPr id="11" name="Stat 2 circle"/>
          <p:cNvSpPr/>
          <p:nvPr/>
        </p:nvSpPr>
        <p:spPr>
          <a:xfrm>
            <a:off x="3642055" y="1874520"/>
            <a:ext cx="548640" cy="548640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12" name="Sta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215" y="2011680"/>
            <a:ext cx="274320" cy="274320"/>
          </a:xfrm>
          <a:prstGeom prst="rect">
            <a:avLst/>
          </a:prstGeom>
        </p:spPr>
      </p:pic>
      <p:sp>
        <p:nvSpPr>
          <p:cNvPr id="13" name="Stat value 2"/>
          <p:cNvSpPr txBox="1"/>
          <p:nvPr/>
        </p:nvSpPr>
        <p:spPr>
          <a:xfrm>
            <a:off x="3642055" y="2514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</a:t>
            </a:r>
            <a:endParaRPr lang="en-US" sz="4000" dirty="0"/>
          </a:p>
        </p:txBody>
      </p:sp>
      <p:sp>
        <p:nvSpPr>
          <p:cNvPr id="14" name="Stat label 2"/>
          <p:cNvSpPr txBox="1"/>
          <p:nvPr/>
        </p:nvSpPr>
        <p:spPr>
          <a:xfrm>
            <a:off x="3642055" y="3136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cooperating agents</a:t>
            </a:r>
            <a:endParaRPr lang="en-US" sz="1500" dirty="0"/>
          </a:p>
        </p:txBody>
      </p:sp>
      <p:sp>
        <p:nvSpPr>
          <p:cNvPr id="15" name="Stat caption 2"/>
          <p:cNvSpPr txBox="1"/>
          <p:nvPr/>
        </p:nvSpPr>
        <p:spPr>
          <a:xfrm>
            <a:off x="3642055" y="34107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coordinated by one orchestrator</a:t>
            </a:r>
            <a:endParaRPr lang="en-US" sz="1200" dirty="0"/>
          </a:p>
        </p:txBody>
      </p:sp>
      <p:sp>
        <p:nvSpPr>
          <p:cNvPr id="16" name="Stat card 3"/>
          <p:cNvSpPr/>
          <p:nvPr/>
        </p:nvSpPr>
        <p:spPr>
          <a:xfrm>
            <a:off x="6186830" y="160020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EEF4EC"/>
          </a:solidFill>
          <a:ln/>
        </p:spPr>
      </p:sp>
      <p:sp>
        <p:nvSpPr>
          <p:cNvPr id="17" name="Stat 3 circle"/>
          <p:cNvSpPr/>
          <p:nvPr/>
        </p:nvSpPr>
        <p:spPr>
          <a:xfrm>
            <a:off x="6461150" y="1874520"/>
            <a:ext cx="548640" cy="548640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18" name="Sta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8310" y="2011680"/>
            <a:ext cx="274320" cy="274320"/>
          </a:xfrm>
          <a:prstGeom prst="rect">
            <a:avLst/>
          </a:prstGeom>
        </p:spPr>
      </p:pic>
      <p:sp>
        <p:nvSpPr>
          <p:cNvPr id="19" name="Stat value 3"/>
          <p:cNvSpPr txBox="1"/>
          <p:nvPr/>
        </p:nvSpPr>
        <p:spPr>
          <a:xfrm>
            <a:off x="6461150" y="2514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0.968</a:t>
            </a:r>
            <a:endParaRPr lang="en-US" sz="4000" dirty="0"/>
          </a:p>
        </p:txBody>
      </p:sp>
      <p:sp>
        <p:nvSpPr>
          <p:cNvPr id="20" name="Stat label 3"/>
          <p:cNvSpPr txBox="1"/>
          <p:nvPr/>
        </p:nvSpPr>
        <p:spPr>
          <a:xfrm>
            <a:off x="6461150" y="3136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yield model R²</a:t>
            </a:r>
            <a:endParaRPr lang="en-US" sz="1500" dirty="0"/>
          </a:p>
        </p:txBody>
      </p:sp>
      <p:sp>
        <p:nvSpPr>
          <p:cNvPr id="21" name="Stat caption 3"/>
          <p:cNvSpPr txBox="1"/>
          <p:nvPr/>
        </p:nvSpPr>
        <p:spPr>
          <a:xfrm>
            <a:off x="6461150" y="34107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held-out 2018–2020 · baseline 0.836</a:t>
            </a:r>
            <a:endParaRPr lang="en-US" sz="1200" dirty="0"/>
          </a:p>
        </p:txBody>
      </p:sp>
      <p:sp>
        <p:nvSpPr>
          <p:cNvPr id="22" name="Stat card 4"/>
          <p:cNvSpPr/>
          <p:nvPr/>
        </p:nvSpPr>
        <p:spPr>
          <a:xfrm>
            <a:off x="9005926" y="160020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EEF4EC"/>
          </a:solidFill>
          <a:ln/>
        </p:spPr>
      </p:sp>
      <p:sp>
        <p:nvSpPr>
          <p:cNvPr id="23" name="Stat 4 circle"/>
          <p:cNvSpPr/>
          <p:nvPr/>
        </p:nvSpPr>
        <p:spPr>
          <a:xfrm>
            <a:off x="9280246" y="1874520"/>
            <a:ext cx="548640" cy="548640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24" name="Sta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7406" y="2011680"/>
            <a:ext cx="274320" cy="274320"/>
          </a:xfrm>
          <a:prstGeom prst="rect">
            <a:avLst/>
          </a:prstGeom>
        </p:spPr>
      </p:pic>
      <p:sp>
        <p:nvSpPr>
          <p:cNvPr id="25" name="Stat value 4"/>
          <p:cNvSpPr txBox="1"/>
          <p:nvPr/>
        </p:nvSpPr>
        <p:spPr>
          <a:xfrm>
            <a:off x="9280246" y="2514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31 / 31</a:t>
            </a:r>
            <a:endParaRPr lang="en-US" sz="4000" dirty="0"/>
          </a:p>
        </p:txBody>
      </p:sp>
      <p:sp>
        <p:nvSpPr>
          <p:cNvPr id="26" name="Stat label 4"/>
          <p:cNvSpPr txBox="1"/>
          <p:nvPr/>
        </p:nvSpPr>
        <p:spPr>
          <a:xfrm>
            <a:off x="9280246" y="31363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 cases passed</a:t>
            </a:r>
            <a:endParaRPr lang="en-US" sz="1500" dirty="0"/>
          </a:p>
        </p:txBody>
      </p:sp>
      <p:sp>
        <p:nvSpPr>
          <p:cNvPr id="27" name="Stat caption 4"/>
          <p:cNvSpPr txBox="1"/>
          <p:nvPr/>
        </p:nvSpPr>
        <p:spPr>
          <a:xfrm>
            <a:off x="9280246" y="341071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MRR 1.000 · Hit rate@10 1.000</a:t>
            </a:r>
            <a:endParaRPr lang="en-US" sz="1200" dirty="0"/>
          </a:p>
        </p:txBody>
      </p:sp>
      <p:sp>
        <p:nvSpPr>
          <p:cNvPr id="28" name="How label"/>
          <p:cNvSpPr txBox="1"/>
          <p:nvPr/>
        </p:nvSpPr>
        <p:spPr>
          <a:xfrm>
            <a:off x="54864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29" name="Flow 1 circle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A6D93E"/>
          </a:solidFill>
          <a:ln/>
        </p:spPr>
      </p:sp>
      <p:pic>
        <p:nvPicPr>
          <p:cNvPr id="30" name="Flow 1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4834890"/>
            <a:ext cx="251460" cy="251460"/>
          </a:xfrm>
          <a:prstGeom prst="rect">
            <a:avLst/>
          </a:prstGeom>
        </p:spPr>
      </p:pic>
      <p:sp>
        <p:nvSpPr>
          <p:cNvPr id="31" name="Flow title 1"/>
          <p:cNvSpPr txBox="1"/>
          <p:nvPr/>
        </p:nvSpPr>
        <p:spPr>
          <a:xfrm>
            <a:off x="1234440" y="46908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Ask</a:t>
            </a:r>
            <a:endParaRPr lang="en-US" sz="1600" dirty="0"/>
          </a:p>
        </p:txBody>
      </p:sp>
      <p:sp>
        <p:nvSpPr>
          <p:cNvPr id="32" name="Flow text 1"/>
          <p:cNvSpPr txBox="1"/>
          <p:nvPr/>
        </p:nvSpPr>
        <p:spPr>
          <a:xfrm>
            <a:off x="1234440" y="500176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Describe the farm in plain language: state, season, soil, rainfall.</a:t>
            </a:r>
            <a:endParaRPr lang="en-US" sz="1300" dirty="0"/>
          </a:p>
        </p:txBody>
      </p:sp>
      <p:pic>
        <p:nvPicPr>
          <p:cNvPr id="33" name="Flow arrow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1648" y="4818888"/>
            <a:ext cx="274320" cy="274320"/>
          </a:xfrm>
          <a:prstGeom prst="rect">
            <a:avLst/>
          </a:prstGeom>
        </p:spPr>
      </p:pic>
      <p:sp>
        <p:nvSpPr>
          <p:cNvPr id="34" name="Flow 2 circle"/>
          <p:cNvSpPr/>
          <p:nvPr/>
        </p:nvSpPr>
        <p:spPr>
          <a:xfrm>
            <a:off x="4366260" y="4709160"/>
            <a:ext cx="502920" cy="502920"/>
          </a:xfrm>
          <a:prstGeom prst="ellipse">
            <a:avLst/>
          </a:prstGeom>
          <a:solidFill>
            <a:srgbClr val="A6D93E"/>
          </a:solidFill>
          <a:ln/>
        </p:spPr>
      </p:sp>
      <p:pic>
        <p:nvPicPr>
          <p:cNvPr id="35" name="Flow 2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1990" y="4834890"/>
            <a:ext cx="251460" cy="251460"/>
          </a:xfrm>
          <a:prstGeom prst="rect">
            <a:avLst/>
          </a:prstGeom>
        </p:spPr>
      </p:pic>
      <p:sp>
        <p:nvSpPr>
          <p:cNvPr id="36" name="Flow title 2"/>
          <p:cNvSpPr txBox="1"/>
          <p:nvPr/>
        </p:nvSpPr>
        <p:spPr>
          <a:xfrm>
            <a:off x="5052060" y="46908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Retrieve</a:t>
            </a:r>
            <a:endParaRPr lang="en-US" sz="1600" dirty="0"/>
          </a:p>
        </p:txBody>
      </p:sp>
      <p:sp>
        <p:nvSpPr>
          <p:cNvPr id="37" name="Flow text 2"/>
          <p:cNvSpPr txBox="1"/>
          <p:nvPr/>
        </p:nvSpPr>
        <p:spPr>
          <a:xfrm>
            <a:off x="5052060" y="500176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Find comparable historical cases with hybrid keyword + semantic search.</a:t>
            </a:r>
            <a:endParaRPr lang="en-US" sz="1300" dirty="0"/>
          </a:p>
        </p:txBody>
      </p:sp>
      <p:pic>
        <p:nvPicPr>
          <p:cNvPr id="38" name="Flow arrow 2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9268" y="4818888"/>
            <a:ext cx="274320" cy="274320"/>
          </a:xfrm>
          <a:prstGeom prst="rect">
            <a:avLst/>
          </a:prstGeom>
        </p:spPr>
      </p:pic>
      <p:sp>
        <p:nvSpPr>
          <p:cNvPr id="39" name="Flow 3 circle"/>
          <p:cNvSpPr/>
          <p:nvPr/>
        </p:nvSpPr>
        <p:spPr>
          <a:xfrm>
            <a:off x="8183880" y="4709160"/>
            <a:ext cx="502920" cy="502920"/>
          </a:xfrm>
          <a:prstGeom prst="ellipse">
            <a:avLst/>
          </a:prstGeom>
          <a:solidFill>
            <a:srgbClr val="A6D93E"/>
          </a:solidFill>
          <a:ln/>
        </p:spPr>
      </p:sp>
      <p:pic>
        <p:nvPicPr>
          <p:cNvPr id="40" name="Flow 3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9610" y="4834890"/>
            <a:ext cx="251460" cy="251460"/>
          </a:xfrm>
          <a:prstGeom prst="rect">
            <a:avLst/>
          </a:prstGeom>
        </p:spPr>
      </p:pic>
      <p:sp>
        <p:nvSpPr>
          <p:cNvPr id="41" name="Flow title 3"/>
          <p:cNvSpPr txBox="1"/>
          <p:nvPr/>
        </p:nvSpPr>
        <p:spPr>
          <a:xfrm>
            <a:off x="8869680" y="469087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Advise</a:t>
            </a:r>
            <a:endParaRPr lang="en-US" sz="1600" dirty="0"/>
          </a:p>
        </p:txBody>
      </p:sp>
      <p:sp>
        <p:nvSpPr>
          <p:cNvPr id="42" name="Flow text 3"/>
          <p:cNvSpPr txBox="1"/>
          <p:nvPr/>
        </p:nvSpPr>
        <p:spPr>
          <a:xfrm>
            <a:off x="8869680" y="500176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Get ranked crops with supporting cases, risk and a labelled yield estimate.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 · 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Crop decisions rely on records nobody can search quickly</a:t>
            </a:r>
            <a:endParaRPr lang="en-US" sz="2800" dirty="0"/>
          </a:p>
        </p:txBody>
      </p:sp>
      <p:sp>
        <p:nvSpPr>
          <p:cNvPr id="4" name="Problem 1 circle"/>
          <p:cNvSpPr/>
          <p:nvPr/>
        </p:nvSpPr>
        <p:spPr>
          <a:xfrm>
            <a:off x="548640" y="1600200"/>
            <a:ext cx="594360" cy="594360"/>
          </a:xfrm>
          <a:prstGeom prst="ellipse">
            <a:avLst/>
          </a:prstGeom>
          <a:solidFill>
            <a:srgbClr val="EEF4EC"/>
          </a:solidFill>
          <a:ln/>
        </p:spPr>
      </p:sp>
      <p:pic>
        <p:nvPicPr>
          <p:cNvPr id="5" name="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230" y="1748790"/>
            <a:ext cx="297180" cy="297180"/>
          </a:xfrm>
          <a:prstGeom prst="rect">
            <a:avLst/>
          </a:prstGeom>
        </p:spPr>
      </p:pic>
      <p:sp>
        <p:nvSpPr>
          <p:cNvPr id="6" name="Problem title 1"/>
          <p:cNvSpPr txBox="1"/>
          <p:nvPr/>
        </p:nvSpPr>
        <p:spPr>
          <a:xfrm>
            <a:off x="1371600" y="16002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Rich data, hard to use</a:t>
            </a:r>
            <a:endParaRPr lang="en-US" sz="1700" dirty="0"/>
          </a:p>
        </p:txBody>
      </p:sp>
      <p:sp>
        <p:nvSpPr>
          <p:cNvPr id="7" name="Problem text 1"/>
          <p:cNvSpPr txBox="1"/>
          <p:nvPr/>
        </p:nvSpPr>
        <p:spPr>
          <a:xfrm>
            <a:off x="1371600" y="19293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Thousands of historical records: crop, season, state, soil, weather, inputs and yield.</a:t>
            </a:r>
            <a:endParaRPr lang="en-US" sz="1400" dirty="0"/>
          </a:p>
        </p:txBody>
      </p:sp>
      <p:sp>
        <p:nvSpPr>
          <p:cNvPr id="8" name="Problem 2 circle"/>
          <p:cNvSpPr/>
          <p:nvPr/>
        </p:nvSpPr>
        <p:spPr>
          <a:xfrm>
            <a:off x="548640" y="2624328"/>
            <a:ext cx="594360" cy="594360"/>
          </a:xfrm>
          <a:prstGeom prst="ellipse">
            <a:avLst/>
          </a:prstGeom>
          <a:solidFill>
            <a:srgbClr val="EEF4EC"/>
          </a:solidFill>
          <a:ln/>
        </p:spPr>
      </p:sp>
      <p:pic>
        <p:nvPicPr>
          <p:cNvPr id="9" name="Proble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2772918"/>
            <a:ext cx="297180" cy="297180"/>
          </a:xfrm>
          <a:prstGeom prst="rect">
            <a:avLst/>
          </a:prstGeom>
        </p:spPr>
      </p:pic>
      <p:sp>
        <p:nvSpPr>
          <p:cNvPr id="10" name="Problem title 2"/>
          <p:cNvSpPr txBox="1"/>
          <p:nvPr/>
        </p:nvSpPr>
        <p:spPr>
          <a:xfrm>
            <a:off x="1371600" y="26243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Slow, inconsistent lookup</a:t>
            </a:r>
            <a:endParaRPr lang="en-US" sz="1700" dirty="0"/>
          </a:p>
        </p:txBody>
      </p:sp>
      <p:sp>
        <p:nvSpPr>
          <p:cNvPr id="11" name="Problem text 2"/>
          <p:cNvSpPr txBox="1"/>
          <p:nvPr/>
        </p:nvSpPr>
        <p:spPr>
          <a:xfrm>
            <a:off x="1371600" y="29535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Finding comparable farming cases by hand takes time and varies by person.</a:t>
            </a:r>
            <a:endParaRPr lang="en-US" sz="1400" dirty="0"/>
          </a:p>
        </p:txBody>
      </p:sp>
      <p:sp>
        <p:nvSpPr>
          <p:cNvPr id="12" name="Problem 3 circle"/>
          <p:cNvSpPr/>
          <p:nvPr/>
        </p:nvSpPr>
        <p:spPr>
          <a:xfrm>
            <a:off x="548640" y="3648456"/>
            <a:ext cx="594360" cy="594360"/>
          </a:xfrm>
          <a:prstGeom prst="ellipse">
            <a:avLst/>
          </a:prstGeom>
          <a:solidFill>
            <a:srgbClr val="EEF4EC"/>
          </a:solidFill>
          <a:ln/>
        </p:spPr>
      </p:sp>
      <p:pic>
        <p:nvPicPr>
          <p:cNvPr id="13" name="Proble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" y="3797046"/>
            <a:ext cx="297180" cy="297180"/>
          </a:xfrm>
          <a:prstGeom prst="rect">
            <a:avLst/>
          </a:prstGeom>
        </p:spPr>
      </p:pic>
      <p:sp>
        <p:nvSpPr>
          <p:cNvPr id="14" name="Problem title 3"/>
          <p:cNvSpPr txBox="1"/>
          <p:nvPr/>
        </p:nvSpPr>
        <p:spPr>
          <a:xfrm>
            <a:off x="1371600" y="364845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Advice without evidence</a:t>
            </a:r>
            <a:endParaRPr lang="en-US" sz="1700" dirty="0"/>
          </a:p>
        </p:txBody>
      </p:sp>
      <p:sp>
        <p:nvSpPr>
          <p:cNvPr id="15" name="Problem text 3"/>
          <p:cNvSpPr txBox="1"/>
          <p:nvPr/>
        </p:nvSpPr>
        <p:spPr>
          <a:xfrm>
            <a:off x="1371600" y="39776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Recommendations rarely point back to the cases that justify them.</a:t>
            </a:r>
            <a:endParaRPr lang="en-US" sz="1400" dirty="0"/>
          </a:p>
        </p:txBody>
      </p:sp>
      <p:sp>
        <p:nvSpPr>
          <p:cNvPr id="16" name="Questions card"/>
          <p:cNvSpPr/>
          <p:nvPr/>
        </p:nvSpPr>
        <p:spPr>
          <a:xfrm>
            <a:off x="6492240" y="1600200"/>
            <a:ext cx="5148072" cy="2880360"/>
          </a:xfrm>
          <a:prstGeom prst="roundRect">
            <a:avLst>
              <a:gd name="adj" fmla="val 3810"/>
            </a:avLst>
          </a:prstGeom>
          <a:solidFill>
            <a:srgbClr val="EEF4EC"/>
          </a:solidFill>
          <a:ln/>
        </p:spPr>
      </p:sp>
      <p:sp>
        <p:nvSpPr>
          <p:cNvPr id="17" name="Questions label"/>
          <p:cNvSpPr txBox="1"/>
          <p:nvPr/>
        </p:nvSpPr>
        <p:spPr>
          <a:xfrm>
            <a:off x="681228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QUESTIONS ADVISERS ASK</a:t>
            </a:r>
            <a:endParaRPr lang="en-US" sz="1200" dirty="0"/>
          </a:p>
        </p:txBody>
      </p:sp>
      <p:pic>
        <p:nvPicPr>
          <p:cNvPr id="18" name="Q icon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304288"/>
            <a:ext cx="292608" cy="292608"/>
          </a:xfrm>
          <a:prstGeom prst="rect">
            <a:avLst/>
          </a:prstGeom>
        </p:spPr>
      </p:pic>
      <p:sp>
        <p:nvSpPr>
          <p:cNvPr id="19" name="Question 1"/>
          <p:cNvSpPr txBox="1"/>
          <p:nvPr/>
        </p:nvSpPr>
        <p:spPr>
          <a:xfrm>
            <a:off x="7269480" y="22860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Which crops did well under conditions like mine?</a:t>
            </a:r>
            <a:endParaRPr lang="en-US" sz="1500" dirty="0"/>
          </a:p>
        </p:txBody>
      </p:sp>
      <p:pic>
        <p:nvPicPr>
          <p:cNvPr id="20" name="Q icon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990088"/>
            <a:ext cx="292608" cy="292608"/>
          </a:xfrm>
          <a:prstGeom prst="rect">
            <a:avLst/>
          </a:prstGeom>
        </p:spPr>
      </p:pic>
      <p:sp>
        <p:nvSpPr>
          <p:cNvPr id="21" name="Question 2"/>
          <p:cNvSpPr txBox="1"/>
          <p:nvPr/>
        </p:nvSpPr>
        <p:spPr>
          <a:xfrm>
            <a:off x="7269480" y="29718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Why do yields differ between similar farms?</a:t>
            </a:r>
            <a:endParaRPr lang="en-US" sz="1500" dirty="0"/>
          </a:p>
        </p:txBody>
      </p:sp>
      <p:pic>
        <p:nvPicPr>
          <p:cNvPr id="22" name="Q icon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3675888"/>
            <a:ext cx="292608" cy="292608"/>
          </a:xfrm>
          <a:prstGeom prst="rect">
            <a:avLst/>
          </a:prstGeom>
        </p:spPr>
      </p:pic>
      <p:sp>
        <p:nvSpPr>
          <p:cNvPr id="23" name="Question 3"/>
          <p:cNvSpPr txBox="1"/>
          <p:nvPr/>
        </p:nvSpPr>
        <p:spPr>
          <a:xfrm>
            <a:off x="7269480" y="3657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What alternative crop fits my season and region?</a:t>
            </a:r>
            <a:endParaRPr lang="en-US" sz="1500" dirty="0"/>
          </a:p>
        </p:txBody>
      </p:sp>
      <p:sp>
        <p:nvSpPr>
          <p:cNvPr id="24" name="Goal banner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0D2818"/>
          </a:solidFill>
          <a:ln/>
        </p:spPr>
      </p:sp>
      <p:sp>
        <p:nvSpPr>
          <p:cNvPr id="25" name="Goal circle"/>
          <p:cNvSpPr/>
          <p:nvPr/>
        </p:nvSpPr>
        <p:spPr>
          <a:xfrm>
            <a:off x="822960" y="5120640"/>
            <a:ext cx="594360" cy="594360"/>
          </a:xfrm>
          <a:prstGeom prst="ellipse">
            <a:avLst/>
          </a:prstGeom>
          <a:solidFill>
            <a:srgbClr val="A6D93E"/>
          </a:solidFill>
          <a:ln/>
        </p:spPr>
      </p:sp>
      <p:pic>
        <p:nvPicPr>
          <p:cNvPr id="26" name="Goal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550" y="5269230"/>
            <a:ext cx="297180" cy="297180"/>
          </a:xfrm>
          <a:prstGeom prst="rect">
            <a:avLst/>
          </a:prstGeom>
        </p:spPr>
      </p:pic>
      <p:sp>
        <p:nvSpPr>
          <p:cNvPr id="27" name="Goal text"/>
          <p:cNvSpPr txBox="1"/>
          <p:nvPr/>
        </p:nvSpPr>
        <p:spPr>
          <a:xfrm>
            <a:off x="1645920" y="489204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Goal: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natural-language questions in, evidence-backed crop advice out, with every claim traceable to real cases.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 ·  BUSINESS NEED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advisers and farmers need from the tool</a:t>
            </a:r>
            <a:endParaRPr lang="en-US" sz="2800" dirty="0"/>
          </a:p>
        </p:txBody>
      </p:sp>
      <p:sp>
        <p:nvSpPr>
          <p:cNvPr id="4" name="Need card 1"/>
          <p:cNvSpPr/>
          <p:nvPr/>
        </p:nvSpPr>
        <p:spPr>
          <a:xfrm>
            <a:off x="548640" y="1600200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6D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5" name="Need 1 circle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6" name="Need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365760" cy="365760"/>
          </a:xfrm>
          <a:prstGeom prst="rect">
            <a:avLst/>
          </a:prstGeom>
        </p:spPr>
      </p:pic>
      <p:sp>
        <p:nvSpPr>
          <p:cNvPr id="7" name="Need title 1"/>
          <p:cNvSpPr txBox="1"/>
          <p:nvPr/>
        </p:nvSpPr>
        <p:spPr>
          <a:xfrm>
            <a:off x="1874520" y="1965960"/>
            <a:ext cx="3762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Speed and consistency</a:t>
            </a:r>
            <a:endParaRPr lang="en-US" sz="1900" dirty="0"/>
          </a:p>
        </p:txBody>
      </p:sp>
      <p:sp>
        <p:nvSpPr>
          <p:cNvPr id="8" name="Need text 1"/>
          <p:cNvSpPr txBox="1"/>
          <p:nvPr/>
        </p:nvSpPr>
        <p:spPr>
          <a:xfrm>
            <a:off x="1874520" y="2404872"/>
            <a:ext cx="37627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Faster crop-selection discussions that give the same quality of answer every time, for advisers and farmers alike.</a:t>
            </a:r>
            <a:endParaRPr lang="en-US" sz="1400" dirty="0"/>
          </a:p>
        </p:txBody>
      </p:sp>
      <p:sp>
        <p:nvSpPr>
          <p:cNvPr id="9" name="Need card 2"/>
          <p:cNvSpPr/>
          <p:nvPr/>
        </p:nvSpPr>
        <p:spPr>
          <a:xfrm>
            <a:off x="6231636" y="1600200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6D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0" name="Need 2 circle"/>
          <p:cNvSpPr/>
          <p:nvPr/>
        </p:nvSpPr>
        <p:spPr>
          <a:xfrm>
            <a:off x="6551676" y="1965960"/>
            <a:ext cx="731520" cy="731520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11" name="Need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2148840"/>
            <a:ext cx="365760" cy="365760"/>
          </a:xfrm>
          <a:prstGeom prst="rect">
            <a:avLst/>
          </a:prstGeom>
        </p:spPr>
      </p:pic>
      <p:sp>
        <p:nvSpPr>
          <p:cNvPr id="12" name="Need title 2"/>
          <p:cNvSpPr txBox="1"/>
          <p:nvPr/>
        </p:nvSpPr>
        <p:spPr>
          <a:xfrm>
            <a:off x="7557516" y="1965960"/>
            <a:ext cx="3762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Transparent evidence</a:t>
            </a:r>
            <a:endParaRPr lang="en-US" sz="1900" dirty="0"/>
          </a:p>
        </p:txBody>
      </p:sp>
      <p:sp>
        <p:nvSpPr>
          <p:cNvPr id="13" name="Need text 2"/>
          <p:cNvSpPr txBox="1"/>
          <p:nvPr/>
        </p:nvSpPr>
        <p:spPr>
          <a:xfrm>
            <a:off x="7557516" y="2404872"/>
            <a:ext cx="37627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Every recommendation shows the historical cases behind it, so users can check the reasoning themselves.</a:t>
            </a:r>
            <a:endParaRPr lang="en-US" sz="1400" dirty="0"/>
          </a:p>
        </p:txBody>
      </p:sp>
      <p:sp>
        <p:nvSpPr>
          <p:cNvPr id="14" name="Need card 3"/>
          <p:cNvSpPr/>
          <p:nvPr/>
        </p:nvSpPr>
        <p:spPr>
          <a:xfrm>
            <a:off x="548640" y="3977640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6D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15" name="Need 3 circle"/>
          <p:cNvSpPr/>
          <p:nvPr/>
        </p:nvSpPr>
        <p:spPr>
          <a:xfrm>
            <a:off x="868680" y="4343400"/>
            <a:ext cx="731520" cy="731520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16" name="Need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26280"/>
            <a:ext cx="365760" cy="365760"/>
          </a:xfrm>
          <a:prstGeom prst="rect">
            <a:avLst/>
          </a:prstGeom>
        </p:spPr>
      </p:pic>
      <p:sp>
        <p:nvSpPr>
          <p:cNvPr id="17" name="Need title 3"/>
          <p:cNvSpPr txBox="1"/>
          <p:nvPr/>
        </p:nvSpPr>
        <p:spPr>
          <a:xfrm>
            <a:off x="1874520" y="4343400"/>
            <a:ext cx="3762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Honest uncertainty</a:t>
            </a:r>
            <a:endParaRPr lang="en-US" sz="1900" dirty="0"/>
          </a:p>
        </p:txBody>
      </p:sp>
      <p:sp>
        <p:nvSpPr>
          <p:cNvPr id="18" name="Need text 3"/>
          <p:cNvSpPr txBox="1"/>
          <p:nvPr/>
        </p:nvSpPr>
        <p:spPr>
          <a:xfrm>
            <a:off x="1874520" y="4782312"/>
            <a:ext cx="37627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Observed yield is kept separate from model estimates. The tool never promises an outcome.</a:t>
            </a:r>
            <a:endParaRPr lang="en-US" sz="1400" dirty="0"/>
          </a:p>
        </p:txBody>
      </p:sp>
      <p:sp>
        <p:nvSpPr>
          <p:cNvPr id="19" name="Need card 4"/>
          <p:cNvSpPr/>
          <p:nvPr/>
        </p:nvSpPr>
        <p:spPr>
          <a:xfrm>
            <a:off x="6231636" y="3977640"/>
            <a:ext cx="540867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7E6D2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Need 4 circle"/>
          <p:cNvSpPr/>
          <p:nvPr/>
        </p:nvSpPr>
        <p:spPr>
          <a:xfrm>
            <a:off x="6551676" y="4343400"/>
            <a:ext cx="731520" cy="731520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21" name="Need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556" y="4526280"/>
            <a:ext cx="365760" cy="365760"/>
          </a:xfrm>
          <a:prstGeom prst="rect">
            <a:avLst/>
          </a:prstGeom>
        </p:spPr>
      </p:pic>
      <p:sp>
        <p:nvSpPr>
          <p:cNvPr id="22" name="Need title 4"/>
          <p:cNvSpPr txBox="1"/>
          <p:nvPr/>
        </p:nvSpPr>
        <p:spPr>
          <a:xfrm>
            <a:off x="7557516" y="4343400"/>
            <a:ext cx="37627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Safe by design</a:t>
            </a:r>
            <a:endParaRPr lang="en-US" sz="1900" dirty="0"/>
          </a:p>
        </p:txBody>
      </p:sp>
      <p:sp>
        <p:nvSpPr>
          <p:cNvPr id="23" name="Need text 4"/>
          <p:cNvSpPr txBox="1"/>
          <p:nvPr/>
        </p:nvSpPr>
        <p:spPr>
          <a:xfrm>
            <a:off x="7557516" y="4782312"/>
            <a:ext cx="37627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Guardrails, input validation and an LLM judge check every answer before advice is shown.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·  SOLUTION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Hybrid RAG and multi-agent reasoning over real cases</a:t>
            </a:r>
            <a:endParaRPr lang="en-US" sz="2800" dirty="0"/>
          </a:p>
        </p:txBody>
      </p:sp>
      <p:sp>
        <p:nvSpPr>
          <p:cNvPr id="4" name="Component card 1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0D2818"/>
          </a:solidFill>
          <a:ln/>
        </p:spPr>
      </p:sp>
      <p:sp>
        <p:nvSpPr>
          <p:cNvPr id="5" name="Component 1 circle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A6D93E"/>
          </a:solidFill>
          <a:ln/>
        </p:spPr>
      </p:sp>
      <p:pic>
        <p:nvPicPr>
          <p:cNvPr id="6" name="Componen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016252"/>
            <a:ext cx="283464" cy="283464"/>
          </a:xfrm>
          <a:prstGeom prst="rect">
            <a:avLst/>
          </a:prstGeom>
        </p:spPr>
      </p:pic>
      <p:sp>
        <p:nvSpPr>
          <p:cNvPr id="7" name="Component title 1"/>
          <p:cNvSpPr txBox="1"/>
          <p:nvPr/>
        </p:nvSpPr>
        <p:spPr>
          <a:xfrm>
            <a:off x="822960" y="25786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Hybrid retrieval</a:t>
            </a:r>
            <a:endParaRPr lang="en-US" sz="1700" dirty="0"/>
          </a:p>
        </p:txBody>
      </p:sp>
      <p:sp>
        <p:nvSpPr>
          <p:cNvPr id="8" name="Component text 1"/>
          <p:cNvSpPr txBox="1"/>
          <p:nvPr/>
        </p:nvSpPr>
        <p:spPr>
          <a:xfrm>
            <a:off x="822960" y="2926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BM25 + semantic search fused by RRF, with metadata filters over historical cases.</a:t>
            </a:r>
            <a:endParaRPr lang="en-US" sz="1300" dirty="0"/>
          </a:p>
        </p:txBody>
      </p:sp>
      <p:sp>
        <p:nvSpPr>
          <p:cNvPr id="9" name="Component card 2"/>
          <p:cNvSpPr/>
          <p:nvPr/>
        </p:nvSpPr>
        <p:spPr>
          <a:xfrm>
            <a:off x="4334256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0D2818"/>
          </a:solidFill>
          <a:ln/>
        </p:spPr>
      </p:sp>
      <p:sp>
        <p:nvSpPr>
          <p:cNvPr id="10" name="Component 2 circle"/>
          <p:cNvSpPr/>
          <p:nvPr/>
        </p:nvSpPr>
        <p:spPr>
          <a:xfrm>
            <a:off x="4608576" y="1874520"/>
            <a:ext cx="566928" cy="566928"/>
          </a:xfrm>
          <a:prstGeom prst="ellipse">
            <a:avLst/>
          </a:prstGeom>
          <a:solidFill>
            <a:srgbClr val="A6D93E"/>
          </a:solidFill>
          <a:ln/>
        </p:spPr>
      </p:sp>
      <p:pic>
        <p:nvPicPr>
          <p:cNvPr id="11" name="Componen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0308" y="2016252"/>
            <a:ext cx="283464" cy="283464"/>
          </a:xfrm>
          <a:prstGeom prst="rect">
            <a:avLst/>
          </a:prstGeom>
        </p:spPr>
      </p:pic>
      <p:sp>
        <p:nvSpPr>
          <p:cNvPr id="12" name="Component title 2"/>
          <p:cNvSpPr txBox="1"/>
          <p:nvPr/>
        </p:nvSpPr>
        <p:spPr>
          <a:xfrm>
            <a:off x="4608576" y="25786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Seven agents</a:t>
            </a:r>
            <a:endParaRPr lang="en-US" sz="1700" dirty="0"/>
          </a:p>
        </p:txBody>
      </p:sp>
      <p:sp>
        <p:nvSpPr>
          <p:cNvPr id="13" name="Component text 2"/>
          <p:cNvSpPr txBox="1"/>
          <p:nvPr/>
        </p:nvSpPr>
        <p:spPr>
          <a:xfrm>
            <a:off x="4608576" y="2926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Specialised agents behind one orchestrator, with failure isolation.</a:t>
            </a:r>
            <a:endParaRPr lang="en-US" sz="1300" dirty="0"/>
          </a:p>
        </p:txBody>
      </p:sp>
      <p:sp>
        <p:nvSpPr>
          <p:cNvPr id="14" name="Component card 3"/>
          <p:cNvSpPr/>
          <p:nvPr/>
        </p:nvSpPr>
        <p:spPr>
          <a:xfrm>
            <a:off x="8119872" y="160020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4EC"/>
          </a:solidFill>
          <a:ln/>
        </p:spPr>
      </p:sp>
      <p:sp>
        <p:nvSpPr>
          <p:cNvPr id="15" name="Component 3 circle"/>
          <p:cNvSpPr/>
          <p:nvPr/>
        </p:nvSpPr>
        <p:spPr>
          <a:xfrm>
            <a:off x="8394192" y="1874520"/>
            <a:ext cx="566928" cy="566928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16" name="Componen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5924" y="2016252"/>
            <a:ext cx="283464" cy="283464"/>
          </a:xfrm>
          <a:prstGeom prst="rect">
            <a:avLst/>
          </a:prstGeom>
        </p:spPr>
      </p:pic>
      <p:sp>
        <p:nvSpPr>
          <p:cNvPr id="17" name="Component title 3"/>
          <p:cNvSpPr txBox="1"/>
          <p:nvPr/>
        </p:nvSpPr>
        <p:spPr>
          <a:xfrm>
            <a:off x="8394192" y="25786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Analytics models</a:t>
            </a:r>
            <a:endParaRPr lang="en-US" sz="1700" dirty="0"/>
          </a:p>
        </p:txBody>
      </p:sp>
      <p:sp>
        <p:nvSpPr>
          <p:cNvPr id="18" name="Component text 3"/>
          <p:cNvSpPr txBox="1"/>
          <p:nvPr/>
        </p:nvSpPr>
        <p:spPr>
          <a:xfrm>
            <a:off x="8394192" y="2926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Trained yield model, rule-based suitability risk, soil/weather/input impact.</a:t>
            </a:r>
            <a:endParaRPr lang="en-US" sz="1300" dirty="0"/>
          </a:p>
        </p:txBody>
      </p:sp>
      <p:sp>
        <p:nvSpPr>
          <p:cNvPr id="19" name="Component card 4"/>
          <p:cNvSpPr/>
          <p:nvPr/>
        </p:nvSpPr>
        <p:spPr>
          <a:xfrm>
            <a:off x="548640" y="40233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4EC"/>
          </a:solidFill>
          <a:ln/>
        </p:spPr>
      </p:sp>
      <p:sp>
        <p:nvSpPr>
          <p:cNvPr id="20" name="Component 4 circle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21" name="Componen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439412"/>
            <a:ext cx="283464" cy="283464"/>
          </a:xfrm>
          <a:prstGeom prst="rect">
            <a:avLst/>
          </a:prstGeom>
        </p:spPr>
      </p:pic>
      <p:sp>
        <p:nvSpPr>
          <p:cNvPr id="22" name="Component title 4"/>
          <p:cNvSpPr txBox="1"/>
          <p:nvPr/>
        </p:nvSpPr>
        <p:spPr>
          <a:xfrm>
            <a:off x="822960" y="50017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Claude</a:t>
            </a:r>
            <a:endParaRPr lang="en-US" sz="1700" dirty="0"/>
          </a:p>
        </p:txBody>
      </p:sp>
      <p:sp>
        <p:nvSpPr>
          <p:cNvPr id="23" name="Component text 4"/>
          <p:cNvSpPr txBox="1"/>
          <p:nvPr/>
        </p:nvSpPr>
        <p:spPr>
          <a:xfrm>
            <a:off x="822960" y="53492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Query understanding, grounded explanations and LLM-as-judge validation.</a:t>
            </a:r>
            <a:endParaRPr lang="en-US" sz="1300" dirty="0"/>
          </a:p>
        </p:txBody>
      </p:sp>
      <p:sp>
        <p:nvSpPr>
          <p:cNvPr id="24" name="Component card 5"/>
          <p:cNvSpPr/>
          <p:nvPr/>
        </p:nvSpPr>
        <p:spPr>
          <a:xfrm>
            <a:off x="4334256" y="40233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4EC"/>
          </a:solidFill>
          <a:ln/>
        </p:spPr>
      </p:sp>
      <p:sp>
        <p:nvSpPr>
          <p:cNvPr id="25" name="Component 5 circle"/>
          <p:cNvSpPr/>
          <p:nvPr/>
        </p:nvSpPr>
        <p:spPr>
          <a:xfrm>
            <a:off x="4608576" y="4297680"/>
            <a:ext cx="566928" cy="566928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26" name="Component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308" y="4439412"/>
            <a:ext cx="283464" cy="283464"/>
          </a:xfrm>
          <a:prstGeom prst="rect">
            <a:avLst/>
          </a:prstGeom>
        </p:spPr>
      </p:pic>
      <p:sp>
        <p:nvSpPr>
          <p:cNvPr id="27" name="Component title 5"/>
          <p:cNvSpPr txBox="1"/>
          <p:nvPr/>
        </p:nvSpPr>
        <p:spPr>
          <a:xfrm>
            <a:off x="4608576" y="50017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Full-stack app</a:t>
            </a:r>
            <a:endParaRPr lang="en-US" sz="1700" dirty="0"/>
          </a:p>
        </p:txBody>
      </p:sp>
      <p:sp>
        <p:nvSpPr>
          <p:cNvPr id="28" name="Component text 5"/>
          <p:cNvSpPr txBox="1"/>
          <p:nvPr/>
        </p:nvSpPr>
        <p:spPr>
          <a:xfrm>
            <a:off x="4608576" y="53492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FastAPI backend and React dashboard with a persistent feedback loop.</a:t>
            </a:r>
            <a:endParaRPr lang="en-US" sz="1300" dirty="0"/>
          </a:p>
        </p:txBody>
      </p:sp>
      <p:sp>
        <p:nvSpPr>
          <p:cNvPr id="29" name="Component card 6"/>
          <p:cNvSpPr/>
          <p:nvPr/>
        </p:nvSpPr>
        <p:spPr>
          <a:xfrm>
            <a:off x="8119872" y="402336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EEF4EC"/>
          </a:solidFill>
          <a:ln/>
        </p:spPr>
      </p:sp>
      <p:sp>
        <p:nvSpPr>
          <p:cNvPr id="30" name="Component 6 circle"/>
          <p:cNvSpPr/>
          <p:nvPr/>
        </p:nvSpPr>
        <p:spPr>
          <a:xfrm>
            <a:off x="8394192" y="4297680"/>
            <a:ext cx="566928" cy="566928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31" name="Component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5924" y="4439412"/>
            <a:ext cx="283464" cy="283464"/>
          </a:xfrm>
          <a:prstGeom prst="rect">
            <a:avLst/>
          </a:prstGeom>
        </p:spPr>
      </p:pic>
      <p:sp>
        <p:nvSpPr>
          <p:cNvPr id="32" name="Component title 6"/>
          <p:cNvSpPr txBox="1"/>
          <p:nvPr/>
        </p:nvSpPr>
        <p:spPr>
          <a:xfrm>
            <a:off x="8394192" y="500176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Built-in evaluation</a:t>
            </a:r>
            <a:endParaRPr lang="en-US" sz="1700" dirty="0"/>
          </a:p>
        </p:txBody>
      </p:sp>
      <p:sp>
        <p:nvSpPr>
          <p:cNvPr id="33" name="Component text 6"/>
          <p:cNvSpPr txBox="1"/>
          <p:nvPr/>
        </p:nvSpPr>
        <p:spPr>
          <a:xfrm>
            <a:off x="8394192" y="534924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Retrieval metrics, model metrics and DeepEval in one reproducible pipeline.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·  DATASET AND PREPROCESSING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55,000 cases: real Kaggle records plus labelled synthetic rows</a:t>
            </a:r>
            <a:endParaRPr lang="en-US" sz="2800" dirty="0"/>
          </a:p>
        </p:txBody>
      </p:sp>
      <p:graphicFrame>
        <p:nvGraphicFramePr>
          <p:cNvPr id="4" name="Real vs synthetic chart" descr="Doughnut chart: 19,689 real rows (36%) and 35,311 synthetic rows (64%)"/>
          <p:cNvGraphicFramePr/>
          <p:nvPr/>
        </p:nvGraphicFramePr>
        <p:xfrm>
          <a:off x="411480" y="1463040"/>
          <a:ext cx="3566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Donut centre value"/>
          <p:cNvSpPr txBox="1"/>
          <p:nvPr/>
        </p:nvSpPr>
        <p:spPr>
          <a:xfrm>
            <a:off x="137160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55,000</a:t>
            </a:r>
            <a:endParaRPr lang="en-US" sz="2400" dirty="0"/>
          </a:p>
        </p:txBody>
      </p:sp>
      <p:sp>
        <p:nvSpPr>
          <p:cNvPr id="6" name="Donut centre label"/>
          <p:cNvSpPr txBox="1"/>
          <p:nvPr/>
        </p:nvSpPr>
        <p:spPr>
          <a:xfrm>
            <a:off x="1371600" y="2999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total rows</a:t>
            </a:r>
            <a:endParaRPr lang="en-US" sz="1100" dirty="0"/>
          </a:p>
        </p:txBody>
      </p:sp>
      <p:sp>
        <p:nvSpPr>
          <p:cNvPr id="7" name="Mini stat card 1"/>
          <p:cNvSpPr/>
          <p:nvPr/>
        </p:nvSpPr>
        <p:spPr>
          <a:xfrm>
            <a:off x="4160520" y="1600200"/>
            <a:ext cx="2651760" cy="896112"/>
          </a:xfrm>
          <a:prstGeom prst="roundRect">
            <a:avLst>
              <a:gd name="adj" fmla="val 10204"/>
            </a:avLst>
          </a:prstGeom>
          <a:solidFill>
            <a:srgbClr val="EEF4EC"/>
          </a:solidFill>
          <a:ln/>
        </p:spPr>
      </p:sp>
      <p:sp>
        <p:nvSpPr>
          <p:cNvPr id="8" name="Mini 1 circle"/>
          <p:cNvSpPr/>
          <p:nvPr/>
        </p:nvSpPr>
        <p:spPr>
          <a:xfrm>
            <a:off x="4343400" y="1801368"/>
            <a:ext cx="493776" cy="493776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9" name="Mini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844" y="1924812"/>
            <a:ext cx="246888" cy="246888"/>
          </a:xfrm>
          <a:prstGeom prst="rect">
            <a:avLst/>
          </a:prstGeom>
        </p:spPr>
      </p:pic>
      <p:sp>
        <p:nvSpPr>
          <p:cNvPr id="10" name="Mini value 1"/>
          <p:cNvSpPr txBox="1"/>
          <p:nvPr/>
        </p:nvSpPr>
        <p:spPr>
          <a:xfrm>
            <a:off x="4983480" y="171907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55</a:t>
            </a:r>
            <a:endParaRPr lang="en-US" sz="2200" dirty="0"/>
          </a:p>
        </p:txBody>
      </p:sp>
      <p:sp>
        <p:nvSpPr>
          <p:cNvPr id="11" name="Mini label 1"/>
          <p:cNvSpPr txBox="1"/>
          <p:nvPr/>
        </p:nvSpPr>
        <p:spPr>
          <a:xfrm>
            <a:off x="4983480" y="21305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crops</a:t>
            </a:r>
            <a:endParaRPr lang="en-US" sz="1200" dirty="0"/>
          </a:p>
        </p:txBody>
      </p:sp>
      <p:sp>
        <p:nvSpPr>
          <p:cNvPr id="12" name="Mini stat card 2"/>
          <p:cNvSpPr/>
          <p:nvPr/>
        </p:nvSpPr>
        <p:spPr>
          <a:xfrm>
            <a:off x="4160520" y="2679192"/>
            <a:ext cx="2651760" cy="896112"/>
          </a:xfrm>
          <a:prstGeom prst="roundRect">
            <a:avLst>
              <a:gd name="adj" fmla="val 10204"/>
            </a:avLst>
          </a:prstGeom>
          <a:solidFill>
            <a:srgbClr val="EEF4EC"/>
          </a:solidFill>
          <a:ln/>
        </p:spPr>
      </p:sp>
      <p:sp>
        <p:nvSpPr>
          <p:cNvPr id="13" name="Mini 2 circle"/>
          <p:cNvSpPr/>
          <p:nvPr/>
        </p:nvSpPr>
        <p:spPr>
          <a:xfrm>
            <a:off x="4343400" y="2880360"/>
            <a:ext cx="493776" cy="493776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14" name="Mini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844" y="3003804"/>
            <a:ext cx="246888" cy="246888"/>
          </a:xfrm>
          <a:prstGeom prst="rect">
            <a:avLst/>
          </a:prstGeom>
        </p:spPr>
      </p:pic>
      <p:sp>
        <p:nvSpPr>
          <p:cNvPr id="15" name="Mini value 2"/>
          <p:cNvSpPr txBox="1"/>
          <p:nvPr/>
        </p:nvSpPr>
        <p:spPr>
          <a:xfrm>
            <a:off x="4983480" y="279806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30</a:t>
            </a:r>
            <a:endParaRPr lang="en-US" sz="2200" dirty="0"/>
          </a:p>
        </p:txBody>
      </p:sp>
      <p:sp>
        <p:nvSpPr>
          <p:cNvPr id="16" name="Mini label 2"/>
          <p:cNvSpPr txBox="1"/>
          <p:nvPr/>
        </p:nvSpPr>
        <p:spPr>
          <a:xfrm>
            <a:off x="4983480" y="32095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states</a:t>
            </a:r>
            <a:endParaRPr lang="en-US" sz="1200" dirty="0"/>
          </a:p>
        </p:txBody>
      </p:sp>
      <p:sp>
        <p:nvSpPr>
          <p:cNvPr id="17" name="Mini stat card 3"/>
          <p:cNvSpPr/>
          <p:nvPr/>
        </p:nvSpPr>
        <p:spPr>
          <a:xfrm>
            <a:off x="4160520" y="3758184"/>
            <a:ext cx="2651760" cy="896112"/>
          </a:xfrm>
          <a:prstGeom prst="roundRect">
            <a:avLst>
              <a:gd name="adj" fmla="val 10204"/>
            </a:avLst>
          </a:prstGeom>
          <a:solidFill>
            <a:srgbClr val="EEF4EC"/>
          </a:solidFill>
          <a:ln/>
        </p:spPr>
      </p:sp>
      <p:sp>
        <p:nvSpPr>
          <p:cNvPr id="18" name="Mini 3 circle"/>
          <p:cNvSpPr/>
          <p:nvPr/>
        </p:nvSpPr>
        <p:spPr>
          <a:xfrm>
            <a:off x="4343400" y="3959352"/>
            <a:ext cx="493776" cy="493776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19" name="Mini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844" y="4082796"/>
            <a:ext cx="246888" cy="246888"/>
          </a:xfrm>
          <a:prstGeom prst="rect">
            <a:avLst/>
          </a:prstGeom>
        </p:spPr>
      </p:pic>
      <p:sp>
        <p:nvSpPr>
          <p:cNvPr id="20" name="Mini value 3"/>
          <p:cNvSpPr txBox="1"/>
          <p:nvPr/>
        </p:nvSpPr>
        <p:spPr>
          <a:xfrm>
            <a:off x="4983480" y="38770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1997–2020</a:t>
            </a:r>
            <a:endParaRPr lang="en-US" sz="2200" dirty="0"/>
          </a:p>
        </p:txBody>
      </p:sp>
      <p:sp>
        <p:nvSpPr>
          <p:cNvPr id="21" name="Mini label 3"/>
          <p:cNvSpPr txBox="1"/>
          <p:nvPr/>
        </p:nvSpPr>
        <p:spPr>
          <a:xfrm>
            <a:off x="4983480" y="42885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years covered</a:t>
            </a:r>
            <a:endParaRPr lang="en-US" sz="1200" dirty="0"/>
          </a:p>
        </p:txBody>
      </p:sp>
      <p:sp>
        <p:nvSpPr>
          <p:cNvPr id="22" name="Rules label"/>
          <p:cNvSpPr txBox="1"/>
          <p:nvPr/>
        </p:nvSpPr>
        <p:spPr>
          <a:xfrm>
            <a:off x="7178040" y="1600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DATA-HANDLING RULES</a:t>
            </a:r>
            <a:endParaRPr lang="en-US" sz="1200" dirty="0"/>
          </a:p>
        </p:txBody>
      </p:sp>
      <p:pic>
        <p:nvPicPr>
          <p:cNvPr id="23" name="Rule icon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2029968"/>
            <a:ext cx="256032" cy="256032"/>
          </a:xfrm>
          <a:prstGeom prst="rect">
            <a:avLst/>
          </a:prstGeom>
        </p:spPr>
      </p:pic>
      <p:sp>
        <p:nvSpPr>
          <p:cNvPr id="24" name="Rule 1"/>
          <p:cNvSpPr txBox="1"/>
          <p:nvPr/>
        </p:nvSpPr>
        <p:spPr>
          <a:xfrm>
            <a:off x="7589520" y="2011680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Synthetic rows are flagged,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badged in the UI and excluded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from model testing and statistics.</a:t>
            </a:r>
            <a:endParaRPr lang="en-US" sz="1400" dirty="0"/>
          </a:p>
        </p:txBody>
      </p:sp>
      <p:pic>
        <p:nvPicPr>
          <p:cNvPr id="25" name="Rule icon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8040" y="2743200"/>
            <a:ext cx="256032" cy="256032"/>
          </a:xfrm>
          <a:prstGeom prst="rect">
            <a:avLst/>
          </a:prstGeom>
        </p:spPr>
      </p:pic>
      <p:sp>
        <p:nvSpPr>
          <p:cNvPr id="26" name="Rule 2"/>
          <p:cNvSpPr txBox="1"/>
          <p:nvPr/>
        </p:nvSpPr>
        <p:spPr>
          <a:xfrm>
            <a:off x="7589520" y="2724912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Soil N/P/K/pH are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state-level constants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; weather is state-year. Both are joined and labelled as such.</a:t>
            </a:r>
            <a:endParaRPr lang="en-US" sz="1400" dirty="0"/>
          </a:p>
        </p:txBody>
      </p:sp>
      <p:pic>
        <p:nvPicPr>
          <p:cNvPr id="27" name="Rule icon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8040" y="3456432"/>
            <a:ext cx="256032" cy="256032"/>
          </a:xfrm>
          <a:prstGeom prst="rect">
            <a:avLst/>
          </a:prstGeom>
        </p:spPr>
      </p:pic>
      <p:sp>
        <p:nvSpPr>
          <p:cNvPr id="28" name="Rule 3"/>
          <p:cNvSpPr txBox="1"/>
          <p:nvPr/>
        </p:nvSpPr>
        <p:spPr>
          <a:xfrm>
            <a:off x="7589520" y="3438144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Stable case IDs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and quality flags; outliers inspected, not deleted.</a:t>
            </a:r>
            <a:endParaRPr lang="en-US" sz="1400" dirty="0"/>
          </a:p>
        </p:txBody>
      </p:sp>
      <p:pic>
        <p:nvPicPr>
          <p:cNvPr id="29" name="Rule icon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4169664"/>
            <a:ext cx="256032" cy="256032"/>
          </a:xfrm>
          <a:prstGeom prst="rect">
            <a:avLst/>
          </a:prstGeom>
        </p:spPr>
      </p:pic>
      <p:sp>
        <p:nvSpPr>
          <p:cNvPr id="30" name="Rule 4"/>
          <p:cNvSpPr txBox="1"/>
          <p:nvPr/>
        </p:nvSpPr>
        <p:spPr>
          <a:xfrm>
            <a:off x="7589520" y="4151376"/>
            <a:ext cx="4050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Yield ≈ production / area;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units are crop-specific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31" name="Source note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Source: Kaggle, “Crop Yield Data with Soil and Weather Dataset” (CC0). All 19,689 source rows passed validation.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 ·  ARCHITECTURE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Five layers from raw data to the advisory dashboard</a:t>
            </a:r>
            <a:endParaRPr lang="en-US" sz="2800" dirty="0"/>
          </a:p>
        </p:txBody>
      </p:sp>
      <p:sp>
        <p:nvSpPr>
          <p:cNvPr id="4" name="Lane 1"/>
          <p:cNvSpPr/>
          <p:nvPr/>
        </p:nvSpPr>
        <p:spPr>
          <a:xfrm>
            <a:off x="548640" y="1508760"/>
            <a:ext cx="1984248" cy="3931920"/>
          </a:xfrm>
          <a:prstGeom prst="roundRect">
            <a:avLst>
              <a:gd name="adj" fmla="val 5530"/>
            </a:avLst>
          </a:prstGeom>
          <a:solidFill>
            <a:srgbClr val="EEF4EC"/>
          </a:solidFill>
          <a:ln/>
        </p:spPr>
      </p:sp>
      <p:sp>
        <p:nvSpPr>
          <p:cNvPr id="5" name="Lane number 1"/>
          <p:cNvSpPr/>
          <p:nvPr/>
        </p:nvSpPr>
        <p:spPr>
          <a:xfrm>
            <a:off x="713232" y="1673352"/>
            <a:ext cx="347472" cy="347472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Lane title 1"/>
          <p:cNvSpPr txBox="1"/>
          <p:nvPr/>
        </p:nvSpPr>
        <p:spPr>
          <a:xfrm>
            <a:off x="1133856" y="16733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Data</a:t>
            </a:r>
            <a:endParaRPr lang="en-US" sz="1300" dirty="0"/>
          </a:p>
        </p:txBody>
      </p:sp>
      <p:sp>
        <p:nvSpPr>
          <p:cNvPr id="7" name="Lane 1 item 1"/>
          <p:cNvSpPr/>
          <p:nvPr/>
        </p:nvSpPr>
        <p:spPr>
          <a:xfrm>
            <a:off x="685800" y="2240280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6D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Kaggle crop_yield.csv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19,689 rows</a:t>
            </a:r>
            <a:endParaRPr lang="en-US" sz="1150" dirty="0"/>
          </a:p>
        </p:txBody>
      </p:sp>
      <p:sp>
        <p:nvSpPr>
          <p:cNvPr id="8" name="Lane 1 item 2"/>
          <p:cNvSpPr/>
          <p:nvPr/>
        </p:nvSpPr>
        <p:spPr>
          <a:xfrm>
            <a:off x="685800" y="3273552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6D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State soil (30 states)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+ state-year weather</a:t>
            </a:r>
            <a:endParaRPr lang="en-US" sz="1150" dirty="0"/>
          </a:p>
        </p:txBody>
      </p:sp>
      <p:sp>
        <p:nvSpPr>
          <p:cNvPr id="9" name="Lane 1 item 3"/>
          <p:cNvSpPr/>
          <p:nvPr/>
        </p:nvSpPr>
        <p:spPr>
          <a:xfrm>
            <a:off x="685800" y="4306824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6D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SQLite: queries,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feedback, eval runs</a:t>
            </a:r>
            <a:endParaRPr lang="en-US" sz="1150" dirty="0"/>
          </a:p>
        </p:txBody>
      </p:sp>
      <p:pic>
        <p:nvPicPr>
          <p:cNvPr id="10" name="Lane arrow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3337560"/>
            <a:ext cx="237744" cy="237744"/>
          </a:xfrm>
          <a:prstGeom prst="rect">
            <a:avLst/>
          </a:prstGeom>
        </p:spPr>
      </p:pic>
      <p:sp>
        <p:nvSpPr>
          <p:cNvPr id="11" name="Lane 2"/>
          <p:cNvSpPr/>
          <p:nvPr/>
        </p:nvSpPr>
        <p:spPr>
          <a:xfrm>
            <a:off x="2825496" y="1508760"/>
            <a:ext cx="1984248" cy="3931920"/>
          </a:xfrm>
          <a:prstGeom prst="roundRect">
            <a:avLst>
              <a:gd name="adj" fmla="val 5530"/>
            </a:avLst>
          </a:prstGeom>
          <a:solidFill>
            <a:srgbClr val="EEF4EC"/>
          </a:solidFill>
          <a:ln/>
        </p:spPr>
      </p:sp>
      <p:sp>
        <p:nvSpPr>
          <p:cNvPr id="12" name="Lane number 2"/>
          <p:cNvSpPr/>
          <p:nvPr/>
        </p:nvSpPr>
        <p:spPr>
          <a:xfrm>
            <a:off x="2990088" y="1673352"/>
            <a:ext cx="347472" cy="347472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Lane title 2"/>
          <p:cNvSpPr txBox="1"/>
          <p:nvPr/>
        </p:nvSpPr>
        <p:spPr>
          <a:xfrm>
            <a:off x="3410712" y="16733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Prep + index</a:t>
            </a:r>
            <a:endParaRPr lang="en-US" sz="1300" dirty="0"/>
          </a:p>
        </p:txBody>
      </p:sp>
      <p:sp>
        <p:nvSpPr>
          <p:cNvPr id="14" name="Lane 2 item 1"/>
          <p:cNvSpPr/>
          <p:nvPr/>
        </p:nvSpPr>
        <p:spPr>
          <a:xfrm>
            <a:off x="2962656" y="2240280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6D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Validate, clean, dedupe,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merge → 55,000 cases</a:t>
            </a:r>
            <a:endParaRPr lang="en-US" sz="1150" dirty="0"/>
          </a:p>
        </p:txBody>
      </p:sp>
      <p:sp>
        <p:nvSpPr>
          <p:cNvPr id="15" name="Lane 2 item 2"/>
          <p:cNvSpPr/>
          <p:nvPr/>
        </p:nvSpPr>
        <p:spPr>
          <a:xfrm>
            <a:off x="2962656" y="3273552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6D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MiniLM embeddings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+ BM25 → FAISS index</a:t>
            </a:r>
            <a:endParaRPr lang="en-US" sz="1150" dirty="0"/>
          </a:p>
        </p:txBody>
      </p:sp>
      <p:sp>
        <p:nvSpPr>
          <p:cNvPr id="16" name="Lane 2 item 3"/>
          <p:cNvSpPr/>
          <p:nvPr/>
        </p:nvSpPr>
        <p:spPr>
          <a:xfrm>
            <a:off x="2962656" y="4306824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6D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Yield model training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HGB vs RF vs baseline</a:t>
            </a:r>
            <a:endParaRPr lang="en-US" sz="1150" dirty="0"/>
          </a:p>
        </p:txBody>
      </p:sp>
      <p:pic>
        <p:nvPicPr>
          <p:cNvPr id="17" name="Lane arrow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3337560"/>
            <a:ext cx="237744" cy="237744"/>
          </a:xfrm>
          <a:prstGeom prst="rect">
            <a:avLst/>
          </a:prstGeom>
        </p:spPr>
      </p:pic>
      <p:sp>
        <p:nvSpPr>
          <p:cNvPr id="18" name="Lane 3"/>
          <p:cNvSpPr/>
          <p:nvPr/>
        </p:nvSpPr>
        <p:spPr>
          <a:xfrm>
            <a:off x="5102352" y="1508760"/>
            <a:ext cx="1984248" cy="3931920"/>
          </a:xfrm>
          <a:prstGeom prst="roundRect">
            <a:avLst>
              <a:gd name="adj" fmla="val 5530"/>
            </a:avLst>
          </a:prstGeom>
          <a:solidFill>
            <a:srgbClr val="0D2818"/>
          </a:solidFill>
          <a:ln/>
        </p:spPr>
      </p:sp>
      <p:sp>
        <p:nvSpPr>
          <p:cNvPr id="19" name="Lane number 3"/>
          <p:cNvSpPr/>
          <p:nvPr/>
        </p:nvSpPr>
        <p:spPr>
          <a:xfrm>
            <a:off x="5266944" y="1673352"/>
            <a:ext cx="347472" cy="347472"/>
          </a:xfrm>
          <a:prstGeom prst="ellipse">
            <a:avLst/>
          </a:prstGeom>
          <a:solidFill>
            <a:srgbClr val="A6D93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Lane title 3"/>
          <p:cNvSpPr txBox="1"/>
          <p:nvPr/>
        </p:nvSpPr>
        <p:spPr>
          <a:xfrm>
            <a:off x="5687568" y="16733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Multi-agent advisory</a:t>
            </a:r>
            <a:endParaRPr lang="en-US" sz="1300" dirty="0"/>
          </a:p>
        </p:txBody>
      </p:sp>
      <p:sp>
        <p:nvSpPr>
          <p:cNvPr id="21" name="Lane 3 item 1"/>
          <p:cNvSpPr/>
          <p:nvPr/>
        </p:nvSpPr>
        <p:spPr>
          <a:xfrm>
            <a:off x="5239512" y="2240280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173D27"/>
          </a:solidFill>
          <a:ln w="12700">
            <a:solidFill>
              <a:srgbClr val="3E9B6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Orchestrator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stage status, isolation</a:t>
            </a:r>
            <a:endParaRPr lang="en-US" sz="1150" dirty="0"/>
          </a:p>
        </p:txBody>
      </p:sp>
      <p:sp>
        <p:nvSpPr>
          <p:cNvPr id="22" name="Lane 3 item 2"/>
          <p:cNvSpPr/>
          <p:nvPr/>
        </p:nvSpPr>
        <p:spPr>
          <a:xfrm>
            <a:off x="5239512" y="3273552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173D27"/>
          </a:solidFill>
          <a:ln w="12700">
            <a:solidFill>
              <a:srgbClr val="3E9B6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A1–A3  classify,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retrieve, recommend</a:t>
            </a:r>
            <a:endParaRPr lang="en-US" sz="1150" dirty="0"/>
          </a:p>
        </p:txBody>
      </p:sp>
      <p:sp>
        <p:nvSpPr>
          <p:cNvPr id="23" name="Lane 3 item 3"/>
          <p:cNvSpPr/>
          <p:nvPr/>
        </p:nvSpPr>
        <p:spPr>
          <a:xfrm>
            <a:off x="5239512" y="4306824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173D27"/>
          </a:solidFill>
          <a:ln w="12700">
            <a:solidFill>
              <a:srgbClr val="3E9B63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A4–A6  risk, yield, impact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A7  validation + judge</a:t>
            </a:r>
            <a:endParaRPr lang="en-US" sz="1150" dirty="0"/>
          </a:p>
        </p:txBody>
      </p:sp>
      <p:pic>
        <p:nvPicPr>
          <p:cNvPr id="24" name="Lane arrow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3337560"/>
            <a:ext cx="237744" cy="237744"/>
          </a:xfrm>
          <a:prstGeom prst="rect">
            <a:avLst/>
          </a:prstGeom>
        </p:spPr>
      </p:pic>
      <p:sp>
        <p:nvSpPr>
          <p:cNvPr id="25" name="Lane 4"/>
          <p:cNvSpPr/>
          <p:nvPr/>
        </p:nvSpPr>
        <p:spPr>
          <a:xfrm>
            <a:off x="7379208" y="1508760"/>
            <a:ext cx="1984248" cy="3931920"/>
          </a:xfrm>
          <a:prstGeom prst="roundRect">
            <a:avLst>
              <a:gd name="adj" fmla="val 5530"/>
            </a:avLst>
          </a:prstGeom>
          <a:solidFill>
            <a:srgbClr val="EEF4EC"/>
          </a:solidFill>
          <a:ln/>
        </p:spPr>
      </p:sp>
      <p:sp>
        <p:nvSpPr>
          <p:cNvPr id="26" name="Lane number 4"/>
          <p:cNvSpPr/>
          <p:nvPr/>
        </p:nvSpPr>
        <p:spPr>
          <a:xfrm>
            <a:off x="7543800" y="1673352"/>
            <a:ext cx="347472" cy="347472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Lane title 4"/>
          <p:cNvSpPr txBox="1"/>
          <p:nvPr/>
        </p:nvSpPr>
        <p:spPr>
          <a:xfrm>
            <a:off x="7964424" y="16733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API (FastAPI)</a:t>
            </a:r>
            <a:endParaRPr lang="en-US" sz="1300" dirty="0"/>
          </a:p>
        </p:txBody>
      </p:sp>
      <p:sp>
        <p:nvSpPr>
          <p:cNvPr id="28" name="Lane 4 item 1"/>
          <p:cNvSpPr/>
          <p:nvPr/>
        </p:nvSpPr>
        <p:spPr>
          <a:xfrm>
            <a:off x="7516368" y="2240280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6D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/advisory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jobs + stage polling</a:t>
            </a:r>
            <a:endParaRPr lang="en-US" sz="1150" dirty="0"/>
          </a:p>
        </p:txBody>
      </p:sp>
      <p:sp>
        <p:nvSpPr>
          <p:cNvPr id="29" name="Lane 4 item 2"/>
          <p:cNvSpPr/>
          <p:nvPr/>
        </p:nvSpPr>
        <p:spPr>
          <a:xfrm>
            <a:off x="7516368" y="3273552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6D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/cases  /predictions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/analysis</a:t>
            </a:r>
            <a:endParaRPr lang="en-US" sz="1150" dirty="0"/>
          </a:p>
        </p:txBody>
      </p:sp>
      <p:sp>
        <p:nvSpPr>
          <p:cNvPr id="30" name="Lane 4 item 3"/>
          <p:cNvSpPr/>
          <p:nvPr/>
        </p:nvSpPr>
        <p:spPr>
          <a:xfrm>
            <a:off x="7516368" y="4306824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6D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/evaluations  /feedback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/system</a:t>
            </a:r>
            <a:endParaRPr lang="en-US" sz="1150" dirty="0"/>
          </a:p>
        </p:txBody>
      </p:sp>
      <p:pic>
        <p:nvPicPr>
          <p:cNvPr id="31" name="Lane arrow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0888" y="3337560"/>
            <a:ext cx="237744" cy="237744"/>
          </a:xfrm>
          <a:prstGeom prst="rect">
            <a:avLst/>
          </a:prstGeom>
        </p:spPr>
      </p:pic>
      <p:sp>
        <p:nvSpPr>
          <p:cNvPr id="32" name="Lane 5"/>
          <p:cNvSpPr/>
          <p:nvPr/>
        </p:nvSpPr>
        <p:spPr>
          <a:xfrm>
            <a:off x="9656064" y="1508760"/>
            <a:ext cx="1984248" cy="3931920"/>
          </a:xfrm>
          <a:prstGeom prst="roundRect">
            <a:avLst>
              <a:gd name="adj" fmla="val 5530"/>
            </a:avLst>
          </a:prstGeom>
          <a:solidFill>
            <a:srgbClr val="EEF4EC"/>
          </a:solidFill>
          <a:ln/>
        </p:spPr>
      </p:sp>
      <p:sp>
        <p:nvSpPr>
          <p:cNvPr id="33" name="Lane number 5"/>
          <p:cNvSpPr/>
          <p:nvPr/>
        </p:nvSpPr>
        <p:spPr>
          <a:xfrm>
            <a:off x="9820656" y="1673352"/>
            <a:ext cx="347472" cy="347472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4" name="Lane title 5"/>
          <p:cNvSpPr txBox="1"/>
          <p:nvPr/>
        </p:nvSpPr>
        <p:spPr>
          <a:xfrm>
            <a:off x="10241280" y="1673352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React UI</a:t>
            </a:r>
            <a:endParaRPr lang="en-US" sz="1300" dirty="0"/>
          </a:p>
        </p:txBody>
      </p:sp>
      <p:sp>
        <p:nvSpPr>
          <p:cNvPr id="35" name="Lane 5 item 1"/>
          <p:cNvSpPr/>
          <p:nvPr/>
        </p:nvSpPr>
        <p:spPr>
          <a:xfrm>
            <a:off x="9793224" y="2240280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6D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Dashboard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Crop Advisory</a:t>
            </a:r>
            <a:endParaRPr lang="en-US" sz="1150" dirty="0"/>
          </a:p>
        </p:txBody>
      </p:sp>
      <p:sp>
        <p:nvSpPr>
          <p:cNvPr id="36" name="Lane 5 item 2"/>
          <p:cNvSpPr/>
          <p:nvPr/>
        </p:nvSpPr>
        <p:spPr>
          <a:xfrm>
            <a:off x="9793224" y="3273552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6D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Case Explorer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Evaluation</a:t>
            </a:r>
            <a:endParaRPr lang="en-US" sz="1150" dirty="0"/>
          </a:p>
        </p:txBody>
      </p:sp>
      <p:sp>
        <p:nvSpPr>
          <p:cNvPr id="37" name="Lane 5 item 3"/>
          <p:cNvSpPr/>
          <p:nvPr/>
        </p:nvSpPr>
        <p:spPr>
          <a:xfrm>
            <a:off x="9793224" y="4306824"/>
            <a:ext cx="1709928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7E6D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Insights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Feedback</a:t>
            </a:r>
            <a:endParaRPr lang="en-US" sz="1150" dirty="0"/>
          </a:p>
        </p:txBody>
      </p:sp>
      <p:sp>
        <p:nvSpPr>
          <p:cNvPr id="38" name="Feedback loop box"/>
          <p:cNvSpPr/>
          <p:nvPr/>
        </p:nvSpPr>
        <p:spPr>
          <a:xfrm>
            <a:off x="548640" y="5596128"/>
            <a:ext cx="11091672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3E9B63"/>
            </a:solidFill>
            <a:prstDash val="dash"/>
          </a:ln>
        </p:spPr>
      </p:sp>
      <p:pic>
        <p:nvPicPr>
          <p:cNvPr id="39" name="Feedback loop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40" name="Feedback loop text"/>
          <p:cNvSpPr txBox="1"/>
          <p:nvPr/>
        </p:nvSpPr>
        <p:spPr>
          <a:xfrm>
            <a:off x="1188720" y="559612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chemeClr val="accent1"/>
                </a:solidFill>
              </a:rPr>
              <a:t>Feedback loop:  </a:t>
            </a:r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user feedback → SQLite → review candidates → human verification → new evaluation cases → re-run evaluation (no automatic retraining)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06  ·  HYBRID RETRIEVAL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Finding comparable cases, not just similar text</a:t>
            </a:r>
            <a:endParaRPr lang="en-US" sz="2800" dirty="0"/>
          </a:p>
        </p:txBody>
      </p:sp>
      <p:sp>
        <p:nvSpPr>
          <p:cNvPr id="4" name="Step number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Step connector 1"/>
          <p:cNvSpPr/>
          <p:nvPr/>
        </p:nvSpPr>
        <p:spPr>
          <a:xfrm>
            <a:off x="777240" y="2103120"/>
            <a:ext cx="0" cy="301752"/>
          </a:xfrm>
          <a:prstGeom prst="line">
            <a:avLst/>
          </a:prstGeom>
          <a:noFill/>
          <a:ln w="25400">
            <a:solidFill>
              <a:srgbClr val="D7E6D2"/>
            </a:solidFill>
            <a:prstDash val="solid"/>
          </a:ln>
        </p:spPr>
      </p:sp>
      <p:sp>
        <p:nvSpPr>
          <p:cNvPr id="6" name="Step title 1"/>
          <p:cNvSpPr txBox="1"/>
          <p:nvPr/>
        </p:nvSpPr>
        <p:spPr>
          <a:xfrm>
            <a:off x="1188720" y="15819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Chunk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1188720" y="18745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One CSV row = one case = one chunk. Short structured rows are never split.</a:t>
            </a:r>
            <a:endParaRPr lang="en-US" sz="1300" dirty="0"/>
          </a:p>
        </p:txBody>
      </p:sp>
      <p:sp>
        <p:nvSpPr>
          <p:cNvPr id="8" name="Step number 2"/>
          <p:cNvSpPr/>
          <p:nvPr/>
        </p:nvSpPr>
        <p:spPr>
          <a:xfrm>
            <a:off x="548640" y="2450592"/>
            <a:ext cx="457200" cy="457200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 connector 2"/>
          <p:cNvSpPr/>
          <p:nvPr/>
        </p:nvSpPr>
        <p:spPr>
          <a:xfrm>
            <a:off x="777240" y="2953512"/>
            <a:ext cx="0" cy="301752"/>
          </a:xfrm>
          <a:prstGeom prst="line">
            <a:avLst/>
          </a:prstGeom>
          <a:noFill/>
          <a:ln w="25400">
            <a:solidFill>
              <a:srgbClr val="D7E6D2"/>
            </a:solidFill>
            <a:prstDash val="solid"/>
          </a:ln>
        </p:spPr>
      </p:sp>
      <p:sp>
        <p:nvSpPr>
          <p:cNvPr id="10" name="Step title 2"/>
          <p:cNvSpPr txBox="1"/>
          <p:nvPr/>
        </p:nvSpPr>
        <p:spPr>
          <a:xfrm>
            <a:off x="1188720" y="24323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Filter</a:t>
            </a:r>
            <a:endParaRPr lang="en-US" sz="1600" dirty="0"/>
          </a:p>
        </p:txBody>
      </p:sp>
      <p:sp>
        <p:nvSpPr>
          <p:cNvPr id="11" name="Step text 2"/>
          <p:cNvSpPr txBox="1"/>
          <p:nvPr/>
        </p:nvSpPr>
        <p:spPr>
          <a:xfrm>
            <a:off x="1188720" y="27249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Metadata filters first: crop, season, state, year and numeric ranges.</a:t>
            </a:r>
            <a:endParaRPr lang="en-US" sz="1300" dirty="0"/>
          </a:p>
        </p:txBody>
      </p:sp>
      <p:sp>
        <p:nvSpPr>
          <p:cNvPr id="12" name="Step number 3"/>
          <p:cNvSpPr/>
          <p:nvPr/>
        </p:nvSpPr>
        <p:spPr>
          <a:xfrm>
            <a:off x="548640" y="3300984"/>
            <a:ext cx="457200" cy="457200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Step connector 3"/>
          <p:cNvSpPr/>
          <p:nvPr/>
        </p:nvSpPr>
        <p:spPr>
          <a:xfrm>
            <a:off x="777240" y="3803904"/>
            <a:ext cx="0" cy="301752"/>
          </a:xfrm>
          <a:prstGeom prst="line">
            <a:avLst/>
          </a:prstGeom>
          <a:noFill/>
          <a:ln w="25400">
            <a:solidFill>
              <a:srgbClr val="D7E6D2"/>
            </a:solidFill>
            <a:prstDash val="solid"/>
          </a:ln>
        </p:spPr>
      </p:sp>
      <p:sp>
        <p:nvSpPr>
          <p:cNvPr id="14" name="Step title 3"/>
          <p:cNvSpPr txBox="1"/>
          <p:nvPr/>
        </p:nvSpPr>
        <p:spPr>
          <a:xfrm>
            <a:off x="1188720" y="32826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Search + fuse</a:t>
            </a:r>
            <a:endParaRPr lang="en-US" sz="1600" dirty="0"/>
          </a:p>
        </p:txBody>
      </p:sp>
      <p:sp>
        <p:nvSpPr>
          <p:cNvPr id="15" name="Step text 3"/>
          <p:cNvSpPr txBox="1"/>
          <p:nvPr/>
        </p:nvSpPr>
        <p:spPr>
          <a:xfrm>
            <a:off x="1188720" y="35753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BM25 keywords and MiniLM embeddings (persistent FAISS index), fused by RRF.</a:t>
            </a:r>
            <a:endParaRPr lang="en-US" sz="1300" dirty="0"/>
          </a:p>
        </p:txBody>
      </p:sp>
      <p:sp>
        <p:nvSpPr>
          <p:cNvPr id="16" name="Step number 4"/>
          <p:cNvSpPr/>
          <p:nvPr/>
        </p:nvSpPr>
        <p:spPr>
          <a:xfrm>
            <a:off x="548640" y="4151376"/>
            <a:ext cx="457200" cy="457200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Step title 4"/>
          <p:cNvSpPr txBox="1"/>
          <p:nvPr/>
        </p:nvSpPr>
        <p:spPr>
          <a:xfrm>
            <a:off x="1188720" y="413308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Prioritise</a:t>
            </a:r>
            <a:endParaRPr lang="en-US" sz="1600" dirty="0"/>
          </a:p>
        </p:txBody>
      </p:sp>
      <p:sp>
        <p:nvSpPr>
          <p:cNvPr id="18" name="Step text 4"/>
          <p:cNvSpPr txBox="1"/>
          <p:nvPr/>
        </p:nvSpPr>
        <p:spPr>
          <a:xfrm>
            <a:off x="1188720" y="44256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Relevance + crop/season/region match + soil/weather similarity + completeness.</a:t>
            </a:r>
            <a:endParaRPr lang="en-US" sz="1300" dirty="0"/>
          </a:p>
        </p:txBody>
      </p:sp>
      <p:sp>
        <p:nvSpPr>
          <p:cNvPr id="19" name="RRF card"/>
          <p:cNvSpPr/>
          <p:nvPr/>
        </p:nvSpPr>
        <p:spPr>
          <a:xfrm>
            <a:off x="548640" y="5074920"/>
            <a:ext cx="5166360" cy="1051560"/>
          </a:xfrm>
          <a:prstGeom prst="roundRect">
            <a:avLst>
              <a:gd name="adj" fmla="val 8696"/>
            </a:avLst>
          </a:prstGeom>
          <a:solidFill>
            <a:srgbClr val="EEF4EC"/>
          </a:solidFill>
          <a:ln/>
        </p:spPr>
      </p:sp>
      <p:sp>
        <p:nvSpPr>
          <p:cNvPr id="20" name="RRF formula"/>
          <p:cNvSpPr txBox="1"/>
          <p:nvPr/>
        </p:nvSpPr>
        <p:spPr>
          <a:xfrm>
            <a:off x="777240" y="5212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RRF score = Σ 1 / (60 + rank)</a:t>
            </a:r>
            <a:endParaRPr lang="en-US" sz="1800" dirty="0"/>
          </a:p>
        </p:txBody>
      </p:sp>
      <p:sp>
        <p:nvSpPr>
          <p:cNvPr id="21" name="RRF caption"/>
          <p:cNvSpPr txBox="1"/>
          <p:nvPr/>
        </p:nvSpPr>
        <p:spPr>
          <a:xfrm>
            <a:off x="777240" y="560527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ranking score, not a probability. Yield is never a ranking input.</a:t>
            </a:r>
            <a:endParaRPr lang="en-US" sz="1300" dirty="0"/>
          </a:p>
        </p:txBody>
      </p:sp>
      <p:pic>
        <p:nvPicPr>
          <p:cNvPr id="22" name="Explorer screenshot" descr="Historical Case Explorer screenshot with hybrid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00200"/>
            <a:ext cx="5605272" cy="3323126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pic>
        <p:nvPicPr>
          <p:cNvPr id="23" name="Fallback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5151926"/>
            <a:ext cx="274320" cy="274320"/>
          </a:xfrm>
          <a:prstGeom prst="rect">
            <a:avLst/>
          </a:prstGeom>
        </p:spPr>
      </p:pic>
      <p:sp>
        <p:nvSpPr>
          <p:cNvPr id="24" name="Fallback text"/>
          <p:cNvSpPr txBox="1"/>
          <p:nvPr/>
        </p:nvSpPr>
        <p:spPr>
          <a:xfrm>
            <a:off x="6446520" y="5124494"/>
            <a:ext cx="5193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Resilient: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if one search backend is down, the other answers and the UI shows a visible notice.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07  ·  AGENT COLLABORATION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Seven specialised agents behind one orchestrator</a:t>
            </a:r>
            <a:endParaRPr lang="en-US" sz="2800" dirty="0"/>
          </a:p>
        </p:txBody>
      </p:sp>
      <p:sp>
        <p:nvSpPr>
          <p:cNvPr id="4" name="Orchestrator bar"/>
          <p:cNvSpPr/>
          <p:nvPr/>
        </p:nvSpPr>
        <p:spPr>
          <a:xfrm>
            <a:off x="548640" y="1554480"/>
            <a:ext cx="11091672" cy="548640"/>
          </a:xfrm>
          <a:prstGeom prst="roundRect">
            <a:avLst>
              <a:gd name="adj" fmla="val 16667"/>
            </a:avLst>
          </a:prstGeom>
          <a:solidFill>
            <a:srgbClr val="0D28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Orchestrator</a:t>
            </a:r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  tracks stage status and isolates failures</a:t>
            </a:r>
            <a:endParaRPr lang="en-US" sz="1500" dirty="0"/>
          </a:p>
        </p:txBody>
      </p:sp>
      <p:sp>
        <p:nvSpPr>
          <p:cNvPr id="5" name="Agent 1 card"/>
          <p:cNvSpPr/>
          <p:nvPr/>
        </p:nvSpPr>
        <p:spPr>
          <a:xfrm>
            <a:off x="548640" y="3268980"/>
            <a:ext cx="1828800" cy="1783080"/>
          </a:xfrm>
          <a:prstGeom prst="roundRect">
            <a:avLst>
              <a:gd name="adj" fmla="val 5128"/>
            </a:avLst>
          </a:prstGeom>
          <a:solidFill>
            <a:srgbClr val="EEF4EC"/>
          </a:solidFill>
          <a:ln/>
        </p:spPr>
      </p:sp>
      <p:sp>
        <p:nvSpPr>
          <p:cNvPr id="6" name="Agent 1 number"/>
          <p:cNvSpPr/>
          <p:nvPr/>
        </p:nvSpPr>
        <p:spPr>
          <a:xfrm>
            <a:off x="713232" y="3433572"/>
            <a:ext cx="384048" cy="384048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Agent 1 name"/>
          <p:cNvSpPr txBox="1"/>
          <p:nvPr/>
        </p:nvSpPr>
        <p:spPr>
          <a:xfrm>
            <a:off x="1188720" y="34335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Classifier</a:t>
            </a:r>
            <a:endParaRPr lang="en-US" sz="1450" dirty="0"/>
          </a:p>
        </p:txBody>
      </p:sp>
      <p:sp>
        <p:nvSpPr>
          <p:cNvPr id="8" name="Agent 1 desc"/>
          <p:cNvSpPr txBox="1"/>
          <p:nvPr/>
        </p:nvSpPr>
        <p:spPr>
          <a:xfrm>
            <a:off x="713232" y="3909060"/>
            <a:ext cx="15270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Regex + Claude extract conditions, with provenance for every value</a:t>
            </a:r>
            <a:endParaRPr lang="en-US" sz="1200" dirty="0"/>
          </a:p>
        </p:txBody>
      </p:sp>
      <p:sp>
        <p:nvSpPr>
          <p:cNvPr id="9" name="Agent 2 card"/>
          <p:cNvSpPr/>
          <p:nvPr/>
        </p:nvSpPr>
        <p:spPr>
          <a:xfrm>
            <a:off x="2697480" y="3268980"/>
            <a:ext cx="1828800" cy="1783080"/>
          </a:xfrm>
          <a:prstGeom prst="roundRect">
            <a:avLst>
              <a:gd name="adj" fmla="val 5128"/>
            </a:avLst>
          </a:prstGeom>
          <a:solidFill>
            <a:srgbClr val="EEF4EC"/>
          </a:solidFill>
          <a:ln/>
        </p:spPr>
      </p:sp>
      <p:sp>
        <p:nvSpPr>
          <p:cNvPr id="10" name="Agent 2 number"/>
          <p:cNvSpPr/>
          <p:nvPr/>
        </p:nvSpPr>
        <p:spPr>
          <a:xfrm>
            <a:off x="2862072" y="3433572"/>
            <a:ext cx="384048" cy="384048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Agent 2 name"/>
          <p:cNvSpPr txBox="1"/>
          <p:nvPr/>
        </p:nvSpPr>
        <p:spPr>
          <a:xfrm>
            <a:off x="3337560" y="343357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Retrieval</a:t>
            </a:r>
            <a:endParaRPr lang="en-US" sz="1450" dirty="0"/>
          </a:p>
        </p:txBody>
      </p:sp>
      <p:sp>
        <p:nvSpPr>
          <p:cNvPr id="12" name="Agent 2 desc"/>
          <p:cNvSpPr txBox="1"/>
          <p:nvPr/>
        </p:nvSpPr>
        <p:spPr>
          <a:xfrm>
            <a:off x="2862072" y="3909060"/>
            <a:ext cx="152704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Hybrid search, filters and prioritisation</a:t>
            </a:r>
            <a:endParaRPr lang="en-US" sz="1200" dirty="0"/>
          </a:p>
        </p:txBody>
      </p:sp>
      <p:sp>
        <p:nvSpPr>
          <p:cNvPr id="13" name="Agent 3 card"/>
          <p:cNvSpPr/>
          <p:nvPr/>
        </p:nvSpPr>
        <p:spPr>
          <a:xfrm>
            <a:off x="4846320" y="3268980"/>
            <a:ext cx="2103120" cy="1783080"/>
          </a:xfrm>
          <a:prstGeom prst="roundRect">
            <a:avLst>
              <a:gd name="adj" fmla="val 5128"/>
            </a:avLst>
          </a:prstGeom>
          <a:solidFill>
            <a:srgbClr val="EEF4EC"/>
          </a:solidFill>
          <a:ln/>
        </p:spPr>
      </p:sp>
      <p:sp>
        <p:nvSpPr>
          <p:cNvPr id="14" name="Agent 3 number"/>
          <p:cNvSpPr/>
          <p:nvPr/>
        </p:nvSpPr>
        <p:spPr>
          <a:xfrm>
            <a:off x="5010912" y="3433572"/>
            <a:ext cx="384048" cy="384048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Agent 3 name"/>
          <p:cNvSpPr txBox="1"/>
          <p:nvPr/>
        </p:nvSpPr>
        <p:spPr>
          <a:xfrm>
            <a:off x="5486400" y="343357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Recommender</a:t>
            </a:r>
            <a:endParaRPr lang="en-US" sz="1450" dirty="0"/>
          </a:p>
        </p:txBody>
      </p:sp>
      <p:sp>
        <p:nvSpPr>
          <p:cNvPr id="16" name="Agent 3 desc"/>
          <p:cNvSpPr txBox="1"/>
          <p:nvPr/>
        </p:nvSpPr>
        <p:spPr>
          <a:xfrm>
            <a:off x="5010912" y="3909060"/>
            <a:ext cx="180136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Groups evidence by crop and explains it</a:t>
            </a:r>
            <a:endParaRPr lang="en-US" sz="1200" dirty="0"/>
          </a:p>
        </p:txBody>
      </p:sp>
      <p:sp>
        <p:nvSpPr>
          <p:cNvPr id="17" name="Agent 4 card"/>
          <p:cNvSpPr/>
          <p:nvPr/>
        </p:nvSpPr>
        <p:spPr>
          <a:xfrm>
            <a:off x="7315200" y="2514600"/>
            <a:ext cx="21945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875">
            <a:solidFill>
              <a:srgbClr val="3E9B63"/>
            </a:solidFill>
            <a:prstDash val="solid"/>
          </a:ln>
        </p:spPr>
      </p:sp>
      <p:sp>
        <p:nvSpPr>
          <p:cNvPr id="18" name="Agent 4 number"/>
          <p:cNvSpPr/>
          <p:nvPr/>
        </p:nvSpPr>
        <p:spPr>
          <a:xfrm>
            <a:off x="7479792" y="2624328"/>
            <a:ext cx="384048" cy="384048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Agent 4 name"/>
          <p:cNvSpPr txBox="1"/>
          <p:nvPr/>
        </p:nvSpPr>
        <p:spPr>
          <a:xfrm>
            <a:off x="7955280" y="26243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Suitability</a:t>
            </a:r>
            <a:endParaRPr lang="en-US" sz="1450" dirty="0"/>
          </a:p>
        </p:txBody>
      </p:sp>
      <p:sp>
        <p:nvSpPr>
          <p:cNvPr id="20" name="Agent 4 desc"/>
          <p:cNvSpPr txBox="1"/>
          <p:nvPr/>
        </p:nvSpPr>
        <p:spPr>
          <a:xfrm>
            <a:off x="7479792" y="3081528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Rule-based historical-envelope risk</a:t>
            </a:r>
            <a:endParaRPr lang="en-US" sz="1200" dirty="0"/>
          </a:p>
        </p:txBody>
      </p:sp>
      <p:sp>
        <p:nvSpPr>
          <p:cNvPr id="21" name="Agent 5 card"/>
          <p:cNvSpPr/>
          <p:nvPr/>
        </p:nvSpPr>
        <p:spPr>
          <a:xfrm>
            <a:off x="7315200" y="3648456"/>
            <a:ext cx="21945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875">
            <a:solidFill>
              <a:srgbClr val="3E9B63"/>
            </a:solidFill>
            <a:prstDash val="solid"/>
          </a:ln>
        </p:spPr>
      </p:sp>
      <p:sp>
        <p:nvSpPr>
          <p:cNvPr id="22" name="Agent 5 number"/>
          <p:cNvSpPr/>
          <p:nvPr/>
        </p:nvSpPr>
        <p:spPr>
          <a:xfrm>
            <a:off x="7479792" y="3758184"/>
            <a:ext cx="384048" cy="384048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Agent 5 name"/>
          <p:cNvSpPr txBox="1"/>
          <p:nvPr/>
        </p:nvSpPr>
        <p:spPr>
          <a:xfrm>
            <a:off x="7955280" y="3758184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Yield</a:t>
            </a:r>
            <a:endParaRPr lang="en-US" sz="1450" dirty="0"/>
          </a:p>
        </p:txBody>
      </p:sp>
      <p:sp>
        <p:nvSpPr>
          <p:cNvPr id="24" name="Agent 5 desc"/>
          <p:cNvSpPr txBox="1"/>
          <p:nvPr/>
        </p:nvSpPr>
        <p:spPr>
          <a:xfrm>
            <a:off x="7479792" y="4215384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Trained regressor + 10–90% interval</a:t>
            </a:r>
            <a:endParaRPr lang="en-US" sz="1200" dirty="0"/>
          </a:p>
        </p:txBody>
      </p:sp>
      <p:sp>
        <p:nvSpPr>
          <p:cNvPr id="25" name="Agent 6 card"/>
          <p:cNvSpPr/>
          <p:nvPr/>
        </p:nvSpPr>
        <p:spPr>
          <a:xfrm>
            <a:off x="7315200" y="4782312"/>
            <a:ext cx="219456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5875">
            <a:solidFill>
              <a:srgbClr val="3E9B63"/>
            </a:solidFill>
            <a:prstDash val="solid"/>
          </a:ln>
        </p:spPr>
      </p:sp>
      <p:sp>
        <p:nvSpPr>
          <p:cNvPr id="26" name="Agent 6 number"/>
          <p:cNvSpPr/>
          <p:nvPr/>
        </p:nvSpPr>
        <p:spPr>
          <a:xfrm>
            <a:off x="7479792" y="4892040"/>
            <a:ext cx="384048" cy="384048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Agent 6 name"/>
          <p:cNvSpPr txBox="1"/>
          <p:nvPr/>
        </p:nvSpPr>
        <p:spPr>
          <a:xfrm>
            <a:off x="7955280" y="4892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Impact</a:t>
            </a:r>
            <a:endParaRPr lang="en-US" sz="1450" dirty="0"/>
          </a:p>
        </p:txBody>
      </p:sp>
      <p:sp>
        <p:nvSpPr>
          <p:cNvPr id="28" name="Agent 6 desc"/>
          <p:cNvSpPr txBox="1"/>
          <p:nvPr/>
        </p:nvSpPr>
        <p:spPr>
          <a:xfrm>
            <a:off x="7479792" y="5349240"/>
            <a:ext cx="189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Correlations, groups, permutation importance</a:t>
            </a:r>
            <a:endParaRPr lang="en-US" sz="1200" dirty="0"/>
          </a:p>
        </p:txBody>
      </p:sp>
      <p:sp>
        <p:nvSpPr>
          <p:cNvPr id="29" name="Agent 7 card"/>
          <p:cNvSpPr/>
          <p:nvPr/>
        </p:nvSpPr>
        <p:spPr>
          <a:xfrm>
            <a:off x="9875520" y="3268980"/>
            <a:ext cx="1764792" cy="178308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15875">
            <a:solidFill>
              <a:srgbClr val="1E6B3C"/>
            </a:solidFill>
            <a:prstDash val="solid"/>
          </a:ln>
        </p:spPr>
      </p:sp>
      <p:sp>
        <p:nvSpPr>
          <p:cNvPr id="30" name="Agent 7 number"/>
          <p:cNvSpPr/>
          <p:nvPr/>
        </p:nvSpPr>
        <p:spPr>
          <a:xfrm>
            <a:off x="10040112" y="3433572"/>
            <a:ext cx="384048" cy="384048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Agent 7 name"/>
          <p:cNvSpPr txBox="1"/>
          <p:nvPr/>
        </p:nvSpPr>
        <p:spPr>
          <a:xfrm>
            <a:off x="10515600" y="3433572"/>
            <a:ext cx="98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Validation</a:t>
            </a:r>
            <a:endParaRPr lang="en-US" sz="1450" dirty="0"/>
          </a:p>
        </p:txBody>
      </p:sp>
      <p:sp>
        <p:nvSpPr>
          <p:cNvPr id="32" name="Agent 7 desc"/>
          <p:cNvSpPr txBox="1"/>
          <p:nvPr/>
        </p:nvSpPr>
        <p:spPr>
          <a:xfrm>
            <a:off x="10040112" y="3909060"/>
            <a:ext cx="1463040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Deterministic checks + Claude LLM-as-judge before advice is shown</a:t>
            </a:r>
            <a:endParaRPr lang="en-US" sz="1200" dirty="0"/>
          </a:p>
        </p:txBody>
      </p:sp>
      <p:sp>
        <p:nvSpPr>
          <p:cNvPr id="33" name="Arrow 1-2"/>
          <p:cNvSpPr/>
          <p:nvPr/>
        </p:nvSpPr>
        <p:spPr>
          <a:xfrm>
            <a:off x="2377440" y="4160520"/>
            <a:ext cx="320040" cy="0"/>
          </a:xfrm>
          <a:prstGeom prst="line">
            <a:avLst/>
          </a:prstGeom>
          <a:noFill/>
          <a:ln w="22225">
            <a:solidFill>
              <a:srgbClr val="3E9B63"/>
            </a:solidFill>
            <a:prstDash val="solid"/>
            <a:tailEnd type="triangle"/>
          </a:ln>
        </p:spPr>
      </p:sp>
      <p:sp>
        <p:nvSpPr>
          <p:cNvPr id="34" name="Arrow 2-3"/>
          <p:cNvSpPr/>
          <p:nvPr/>
        </p:nvSpPr>
        <p:spPr>
          <a:xfrm>
            <a:off x="4526280" y="4160520"/>
            <a:ext cx="320040" cy="0"/>
          </a:xfrm>
          <a:prstGeom prst="line">
            <a:avLst/>
          </a:prstGeom>
          <a:noFill/>
          <a:ln w="22225">
            <a:solidFill>
              <a:srgbClr val="3E9B63"/>
            </a:solidFill>
            <a:prstDash val="solid"/>
            <a:tailEnd type="triangle"/>
          </a:ln>
        </p:spPr>
      </p:sp>
      <p:sp>
        <p:nvSpPr>
          <p:cNvPr id="35" name="Arrow 3-4"/>
          <p:cNvSpPr/>
          <p:nvPr/>
        </p:nvSpPr>
        <p:spPr>
          <a:xfrm flipV="1">
            <a:off x="6949440" y="3026664"/>
            <a:ext cx="365760" cy="1133856"/>
          </a:xfrm>
          <a:prstGeom prst="line">
            <a:avLst/>
          </a:prstGeom>
          <a:noFill/>
          <a:ln w="22225">
            <a:solidFill>
              <a:srgbClr val="3E9B63"/>
            </a:solidFill>
            <a:prstDash val="solid"/>
            <a:tailEnd type="triangle"/>
          </a:ln>
        </p:spPr>
      </p:sp>
      <p:sp>
        <p:nvSpPr>
          <p:cNvPr id="36" name="Arrow 3-5"/>
          <p:cNvSpPr/>
          <p:nvPr/>
        </p:nvSpPr>
        <p:spPr>
          <a:xfrm>
            <a:off x="6949440" y="4160520"/>
            <a:ext cx="365760" cy="0"/>
          </a:xfrm>
          <a:prstGeom prst="line">
            <a:avLst/>
          </a:prstGeom>
          <a:noFill/>
          <a:ln w="22225">
            <a:solidFill>
              <a:srgbClr val="3E9B63"/>
            </a:solidFill>
            <a:prstDash val="solid"/>
            <a:tailEnd type="triangle"/>
          </a:ln>
        </p:spPr>
      </p:sp>
      <p:sp>
        <p:nvSpPr>
          <p:cNvPr id="37" name="Arrow 3-6"/>
          <p:cNvSpPr/>
          <p:nvPr/>
        </p:nvSpPr>
        <p:spPr>
          <a:xfrm>
            <a:off x="6949440" y="4160520"/>
            <a:ext cx="365760" cy="1133856"/>
          </a:xfrm>
          <a:prstGeom prst="line">
            <a:avLst/>
          </a:prstGeom>
          <a:noFill/>
          <a:ln w="22225">
            <a:solidFill>
              <a:srgbClr val="3E9B63"/>
            </a:solidFill>
            <a:prstDash val="solid"/>
            <a:tailEnd type="triangle"/>
          </a:ln>
        </p:spPr>
      </p:sp>
      <p:sp>
        <p:nvSpPr>
          <p:cNvPr id="38" name="Arrow 4-7"/>
          <p:cNvSpPr/>
          <p:nvPr/>
        </p:nvSpPr>
        <p:spPr>
          <a:xfrm>
            <a:off x="9509760" y="3026664"/>
            <a:ext cx="365760" cy="1133856"/>
          </a:xfrm>
          <a:prstGeom prst="line">
            <a:avLst/>
          </a:prstGeom>
          <a:noFill/>
          <a:ln w="22225">
            <a:solidFill>
              <a:srgbClr val="3E9B63"/>
            </a:solidFill>
            <a:prstDash val="solid"/>
            <a:tailEnd type="triangle"/>
          </a:ln>
        </p:spPr>
      </p:sp>
      <p:sp>
        <p:nvSpPr>
          <p:cNvPr id="39" name="Arrow 5-7"/>
          <p:cNvSpPr/>
          <p:nvPr/>
        </p:nvSpPr>
        <p:spPr>
          <a:xfrm>
            <a:off x="9509760" y="4160520"/>
            <a:ext cx="365760" cy="0"/>
          </a:xfrm>
          <a:prstGeom prst="line">
            <a:avLst/>
          </a:prstGeom>
          <a:noFill/>
          <a:ln w="22225">
            <a:solidFill>
              <a:srgbClr val="3E9B63"/>
            </a:solidFill>
            <a:prstDash val="solid"/>
            <a:tailEnd type="triangle"/>
          </a:ln>
        </p:spPr>
      </p:sp>
      <p:sp>
        <p:nvSpPr>
          <p:cNvPr id="40" name="Arrow 6-7"/>
          <p:cNvSpPr/>
          <p:nvPr/>
        </p:nvSpPr>
        <p:spPr>
          <a:xfrm flipV="1">
            <a:off x="9509760" y="4160520"/>
            <a:ext cx="365760" cy="1133856"/>
          </a:xfrm>
          <a:prstGeom prst="line">
            <a:avLst/>
          </a:prstGeom>
          <a:noFill/>
          <a:ln w="22225">
            <a:solidFill>
              <a:srgbClr val="3E9B63"/>
            </a:solidFill>
            <a:prstDash val="solid"/>
            <a:tailEnd type="triangle"/>
          </a:ln>
        </p:spPr>
      </p:sp>
      <p:sp>
        <p:nvSpPr>
          <p:cNvPr id="41" name="Parallel label"/>
          <p:cNvSpPr txBox="1"/>
          <p:nvPr/>
        </p:nvSpPr>
        <p:spPr>
          <a:xfrm>
            <a:off x="7315200" y="21671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RUN IN PARALLEL</a:t>
            </a:r>
            <a:endParaRPr lang="en-US" sz="1100" dirty="0"/>
          </a:p>
        </p:txBody>
      </p:sp>
      <p:pic>
        <p:nvPicPr>
          <p:cNvPr id="42" name="Not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71032"/>
            <a:ext cx="237744" cy="237744"/>
          </a:xfrm>
          <a:prstGeom prst="rect">
            <a:avLst/>
          </a:prstGeom>
        </p:spPr>
      </p:pic>
      <p:sp>
        <p:nvSpPr>
          <p:cNvPr id="43" name="Failure note"/>
          <p:cNvSpPr txBox="1"/>
          <p:nvPr/>
        </p:nvSpPr>
        <p:spPr>
          <a:xfrm>
            <a:off x="896112" y="59618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</a:rPr>
              <a:t>A failing optional agent (4–6) never discards the results of the others.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08  ·  RECOMMENDATION AND YIELD PREDICTION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Each recommendation shows its evidence and an honest estimate</a:t>
            </a:r>
            <a:endParaRPr lang="en-US" sz="2800" dirty="0"/>
          </a:p>
        </p:txBody>
      </p:sp>
      <p:pic>
        <p:nvPicPr>
          <p:cNvPr id="4" name="Recommendation screenshot" descr="Crop recommendation card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852160" cy="2831690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5" name="Includes label"/>
          <p:cNvSpPr txBox="1"/>
          <p:nvPr/>
        </p:nvSpPr>
        <p:spPr>
          <a:xfrm>
            <a:off x="548640" y="470621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EVERY RECOMMENDATION INCLUDES</a:t>
            </a:r>
            <a:endParaRPr lang="en-US" sz="1200" dirty="0"/>
          </a:p>
        </p:txBody>
      </p:sp>
      <p:sp>
        <p:nvSpPr>
          <p:cNvPr id="6" name="Tag 1"/>
          <p:cNvSpPr/>
          <p:nvPr/>
        </p:nvSpPr>
        <p:spPr>
          <a:xfrm>
            <a:off x="548640" y="5071970"/>
            <a:ext cx="882396" cy="347472"/>
          </a:xfrm>
          <a:prstGeom prst="roundRect">
            <a:avLst>
              <a:gd name="adj" fmla="val 44737"/>
            </a:avLst>
          </a:prstGeom>
          <a:solidFill>
            <a:srgbClr val="EEF4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Reasons</a:t>
            </a:r>
            <a:endParaRPr lang="en-US" sz="1200" dirty="0"/>
          </a:p>
        </p:txBody>
      </p:sp>
      <p:sp>
        <p:nvSpPr>
          <p:cNvPr id="7" name="Tag 2"/>
          <p:cNvSpPr/>
          <p:nvPr/>
        </p:nvSpPr>
        <p:spPr>
          <a:xfrm>
            <a:off x="1540764" y="5071970"/>
            <a:ext cx="1924812" cy="347472"/>
          </a:xfrm>
          <a:prstGeom prst="roundRect">
            <a:avLst>
              <a:gd name="adj" fmla="val 44737"/>
            </a:avLst>
          </a:prstGeom>
          <a:solidFill>
            <a:srgbClr val="EEF4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Supporting case IDs</a:t>
            </a:r>
            <a:endParaRPr lang="en-US" sz="1200" dirty="0"/>
          </a:p>
        </p:txBody>
      </p:sp>
      <p:sp>
        <p:nvSpPr>
          <p:cNvPr id="8" name="Tag 3"/>
          <p:cNvSpPr/>
          <p:nvPr/>
        </p:nvSpPr>
        <p:spPr>
          <a:xfrm>
            <a:off x="3575304" y="5071970"/>
            <a:ext cx="2272284" cy="347472"/>
          </a:xfrm>
          <a:prstGeom prst="roundRect">
            <a:avLst>
              <a:gd name="adj" fmla="val 44737"/>
            </a:avLst>
          </a:prstGeom>
          <a:solidFill>
            <a:srgbClr val="EEF4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Actual historical yield</a:t>
            </a:r>
            <a:endParaRPr lang="en-US" sz="1200" dirty="0"/>
          </a:p>
        </p:txBody>
      </p:sp>
      <p:sp>
        <p:nvSpPr>
          <p:cNvPr id="9" name="Tag 4"/>
          <p:cNvSpPr/>
          <p:nvPr/>
        </p:nvSpPr>
        <p:spPr>
          <a:xfrm>
            <a:off x="548640" y="5529170"/>
            <a:ext cx="2532888" cy="347472"/>
          </a:xfrm>
          <a:prstGeom prst="roundRect">
            <a:avLst>
              <a:gd name="adj" fmla="val 44737"/>
            </a:avLst>
          </a:prstGeom>
          <a:solidFill>
            <a:srgbClr val="EEF4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Predicted yield (estimate)</a:t>
            </a:r>
            <a:endParaRPr lang="en-US" sz="1200" dirty="0"/>
          </a:p>
        </p:txBody>
      </p:sp>
      <p:sp>
        <p:nvSpPr>
          <p:cNvPr id="10" name="Tag 5"/>
          <p:cNvSpPr/>
          <p:nvPr/>
        </p:nvSpPr>
        <p:spPr>
          <a:xfrm>
            <a:off x="3191256" y="5529170"/>
            <a:ext cx="1143000" cy="347472"/>
          </a:xfrm>
          <a:prstGeom prst="roundRect">
            <a:avLst>
              <a:gd name="adj" fmla="val 44737"/>
            </a:avLst>
          </a:prstGeom>
          <a:solidFill>
            <a:srgbClr val="EEF4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Risk level</a:t>
            </a:r>
            <a:endParaRPr lang="en-US" sz="1200" dirty="0"/>
          </a:p>
        </p:txBody>
      </p:sp>
      <p:sp>
        <p:nvSpPr>
          <p:cNvPr id="11" name="Tag 6"/>
          <p:cNvSpPr/>
          <p:nvPr/>
        </p:nvSpPr>
        <p:spPr>
          <a:xfrm>
            <a:off x="4443984" y="5529170"/>
            <a:ext cx="1403604" cy="347472"/>
          </a:xfrm>
          <a:prstGeom prst="roundRect">
            <a:avLst>
              <a:gd name="adj" fmla="val 44737"/>
            </a:avLst>
          </a:prstGeom>
          <a:solidFill>
            <a:srgbClr val="EEF4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Judge verdict</a:t>
            </a:r>
            <a:endParaRPr lang="en-US" sz="1200" dirty="0"/>
          </a:p>
        </p:txBody>
      </p:sp>
      <p:sp>
        <p:nvSpPr>
          <p:cNvPr id="12" name="Model title"/>
          <p:cNvSpPr txBox="1"/>
          <p:nvPr/>
        </p:nvSpPr>
        <p:spPr>
          <a:xfrm>
            <a:off x="6766560" y="1600200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Yield model</a:t>
            </a:r>
            <a:endParaRPr lang="en-US" sz="1700" dirty="0"/>
          </a:p>
        </p:txBody>
      </p:sp>
      <p:sp>
        <p:nvSpPr>
          <p:cNvPr id="13" name="Model desc"/>
          <p:cNvSpPr txBox="1"/>
          <p:nvPr/>
        </p:nvSpPr>
        <p:spPr>
          <a:xfrm>
            <a:off x="6766560" y="1938528"/>
            <a:ext cx="4873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HistGradientBoosting on log1p(yield) · temporal split: train ≤ 2014, test 2018–2020</a:t>
            </a:r>
            <a:endParaRPr lang="en-US" sz="1300" dirty="0"/>
          </a:p>
        </p:txBody>
      </p:sp>
      <p:sp>
        <p:nvSpPr>
          <p:cNvPr id="14" name="Model stat card 1"/>
          <p:cNvSpPr/>
          <p:nvPr/>
        </p:nvSpPr>
        <p:spPr>
          <a:xfrm>
            <a:off x="6766560" y="260604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0D2818"/>
          </a:solidFill>
          <a:ln/>
        </p:spPr>
      </p:sp>
      <p:sp>
        <p:nvSpPr>
          <p:cNvPr id="15" name="Model stat value 1"/>
          <p:cNvSpPr txBox="1"/>
          <p:nvPr/>
        </p:nvSpPr>
        <p:spPr>
          <a:xfrm>
            <a:off x="6995160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0.968</a:t>
            </a:r>
            <a:endParaRPr lang="en-US" sz="2800" dirty="0"/>
          </a:p>
        </p:txBody>
      </p:sp>
      <p:sp>
        <p:nvSpPr>
          <p:cNvPr id="16" name="Model stat label 1"/>
          <p:cNvSpPr txBox="1"/>
          <p:nvPr/>
        </p:nvSpPr>
        <p:spPr>
          <a:xfrm>
            <a:off x="6995160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6"/>
                </a:solidFill>
              </a:rPr>
              <a:t>R² on held-out test  ·  baseline 0.836</a:t>
            </a:r>
            <a:endParaRPr lang="en-US" sz="1150" dirty="0"/>
          </a:p>
        </p:txBody>
      </p:sp>
      <p:sp>
        <p:nvSpPr>
          <p:cNvPr id="17" name="Model stat card 2"/>
          <p:cNvSpPr/>
          <p:nvPr/>
        </p:nvSpPr>
        <p:spPr>
          <a:xfrm>
            <a:off x="9308592" y="260604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EEF4EC"/>
          </a:solidFill>
          <a:ln/>
        </p:spPr>
      </p:sp>
      <p:sp>
        <p:nvSpPr>
          <p:cNvPr id="18" name="Model stat value 2"/>
          <p:cNvSpPr txBox="1"/>
          <p:nvPr/>
        </p:nvSpPr>
        <p:spPr>
          <a:xfrm>
            <a:off x="9537192" y="2743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0.956</a:t>
            </a:r>
            <a:endParaRPr lang="en-US" sz="2800" dirty="0"/>
          </a:p>
        </p:txBody>
      </p:sp>
      <p:sp>
        <p:nvSpPr>
          <p:cNvPr id="19" name="Model stat label 2"/>
          <p:cNvSpPr txBox="1"/>
          <p:nvPr/>
        </p:nvSpPr>
        <p:spPr>
          <a:xfrm>
            <a:off x="9537192" y="32918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R² on log scale</a:t>
            </a:r>
            <a:endParaRPr lang="en-US" sz="1150" dirty="0"/>
          </a:p>
        </p:txBody>
      </p:sp>
      <p:sp>
        <p:nvSpPr>
          <p:cNvPr id="20" name="Model stat card 3"/>
          <p:cNvSpPr/>
          <p:nvPr/>
        </p:nvSpPr>
        <p:spPr>
          <a:xfrm>
            <a:off x="6766560" y="393192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EEF4EC"/>
          </a:solidFill>
          <a:ln/>
        </p:spPr>
      </p:sp>
      <p:sp>
        <p:nvSpPr>
          <p:cNvPr id="21" name="Model stat value 3"/>
          <p:cNvSpPr txBox="1"/>
          <p:nvPr/>
        </p:nvSpPr>
        <p:spPr>
          <a:xfrm>
            <a:off x="6995160" y="4069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10.05</a:t>
            </a:r>
            <a:endParaRPr lang="en-US" sz="2800" dirty="0"/>
          </a:p>
        </p:txBody>
      </p:sp>
      <p:sp>
        <p:nvSpPr>
          <p:cNvPr id="22" name="Model stat label 3"/>
          <p:cNvSpPr txBox="1"/>
          <p:nvPr/>
        </p:nvSpPr>
        <p:spPr>
          <a:xfrm>
            <a:off x="6995160" y="4617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MAE  ·  source units</a:t>
            </a:r>
            <a:endParaRPr lang="en-US" sz="1150" dirty="0"/>
          </a:p>
        </p:txBody>
      </p:sp>
      <p:sp>
        <p:nvSpPr>
          <p:cNvPr id="23" name="Model stat card 4"/>
          <p:cNvSpPr/>
          <p:nvPr/>
        </p:nvSpPr>
        <p:spPr>
          <a:xfrm>
            <a:off x="9308592" y="393192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EEF4EC"/>
          </a:solidFill>
          <a:ln/>
        </p:spPr>
      </p:sp>
      <p:sp>
        <p:nvSpPr>
          <p:cNvPr id="24" name="Model stat value 4"/>
          <p:cNvSpPr txBox="1"/>
          <p:nvPr/>
        </p:nvSpPr>
        <p:spPr>
          <a:xfrm>
            <a:off x="9537192" y="4069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151.2</a:t>
            </a:r>
            <a:endParaRPr lang="en-US" sz="2800" dirty="0"/>
          </a:p>
        </p:txBody>
      </p:sp>
      <p:sp>
        <p:nvSpPr>
          <p:cNvPr id="25" name="Model stat label 4"/>
          <p:cNvSpPr txBox="1"/>
          <p:nvPr/>
        </p:nvSpPr>
        <p:spPr>
          <a:xfrm>
            <a:off x="9537192" y="4617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RMSE  ·  source units</a:t>
            </a:r>
            <a:endParaRPr lang="en-US" sz="1150" dirty="0"/>
          </a:p>
        </p:txBody>
      </p:sp>
      <p:sp>
        <p:nvSpPr>
          <p:cNvPr id="26" name="Interval card"/>
          <p:cNvSpPr/>
          <p:nvPr/>
        </p:nvSpPr>
        <p:spPr>
          <a:xfrm>
            <a:off x="6766560" y="5257800"/>
            <a:ext cx="4873752" cy="914400"/>
          </a:xfrm>
          <a:prstGeom prst="roundRect">
            <a:avLst>
              <a:gd name="adj" fmla="val 10000"/>
            </a:avLst>
          </a:prstGeom>
          <a:solidFill>
            <a:srgbClr val="FBF3E2"/>
          </a:solidFill>
          <a:ln/>
        </p:spPr>
      </p:sp>
      <p:pic>
        <p:nvPicPr>
          <p:cNvPr id="27" name="Interval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5440680"/>
            <a:ext cx="292608" cy="292608"/>
          </a:xfrm>
          <a:prstGeom prst="rect">
            <a:avLst/>
          </a:prstGeom>
        </p:spPr>
      </p:pic>
      <p:sp>
        <p:nvSpPr>
          <p:cNvPr id="28" name="Interval text"/>
          <p:cNvSpPr txBox="1"/>
          <p:nvPr/>
        </p:nvSpPr>
        <p:spPr>
          <a:xfrm>
            <a:off x="7406640" y="539496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10–90% interval covers 70% on test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(nominal 80%). Slight under-coverage, reported as 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09  ·  EVALUATION RESULTS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Measured, not estimated: strong retrieval, every test passed</a:t>
            </a:r>
            <a:endParaRPr lang="en-US" sz="2800" dirty="0"/>
          </a:p>
        </p:txBody>
      </p:sp>
      <p:graphicFrame>
        <p:nvGraphicFramePr>
          <p:cNvPr id="4" name="Retrieval metrics chart" descr="Bar chart: Precision@10 0.756, Recall@10 0.747, MRR 1.000, Hit rate@10 1.000, Constraint satisfaction 1.000"/>
          <p:cNvGraphicFramePr/>
          <p:nvPr/>
        </p:nvGraphicFramePr>
        <p:xfrm>
          <a:off x="457200" y="146304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sts card"/>
          <p:cNvSpPr/>
          <p:nvPr/>
        </p:nvSpPr>
        <p:spPr>
          <a:xfrm>
            <a:off x="7223760" y="1600200"/>
            <a:ext cx="4416552" cy="1600200"/>
          </a:xfrm>
          <a:prstGeom prst="roundRect">
            <a:avLst>
              <a:gd name="adj" fmla="val 6857"/>
            </a:avLst>
          </a:prstGeom>
          <a:solidFill>
            <a:srgbClr val="0D2818"/>
          </a:solidFill>
          <a:ln/>
        </p:spPr>
      </p:sp>
      <p:sp>
        <p:nvSpPr>
          <p:cNvPr id="6" name="Tests value"/>
          <p:cNvSpPr txBox="1"/>
          <p:nvPr/>
        </p:nvSpPr>
        <p:spPr>
          <a:xfrm>
            <a:off x="7498080" y="17830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31 / 31</a:t>
            </a:r>
            <a:endParaRPr lang="en-US" sz="4400" dirty="0"/>
          </a:p>
        </p:txBody>
      </p:sp>
      <p:sp>
        <p:nvSpPr>
          <p:cNvPr id="7" name="Tests label"/>
          <p:cNvSpPr txBox="1"/>
          <p:nvPr/>
        </p:nvSpPr>
        <p:spPr>
          <a:xfrm>
            <a:off x="7498080" y="25786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test cases passed · labels verified against the dataset</a:t>
            </a:r>
            <a:endParaRPr lang="en-US" sz="1300" dirty="0"/>
          </a:p>
        </p:txBody>
      </p:sp>
      <p:pic>
        <p:nvPicPr>
          <p:cNvPr id="8" name="Eval note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493008"/>
            <a:ext cx="274320" cy="274320"/>
          </a:xfrm>
          <a:prstGeom prst="rect">
            <a:avLst/>
          </a:prstGeom>
        </p:spPr>
      </p:pic>
      <p:sp>
        <p:nvSpPr>
          <p:cNvPr id="9" name="Eval note 1"/>
          <p:cNvSpPr txBox="1"/>
          <p:nvPr/>
        </p:nvSpPr>
        <p:spPr>
          <a:xfrm>
            <a:off x="7635240" y="3474720"/>
            <a:ext cx="4005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DeepEval (4 metrics) and LLM judge: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Not evaluated. They need Claude credit, which was unavailable in the recorded run, so they are reported as missing rather than estimated.</a:t>
            </a:r>
            <a:endParaRPr lang="en-US" sz="1300" dirty="0"/>
          </a:p>
        </p:txBody>
      </p:sp>
      <p:pic>
        <p:nvPicPr>
          <p:cNvPr id="10" name="Eval note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681728"/>
            <a:ext cx="274320" cy="274320"/>
          </a:xfrm>
          <a:prstGeom prst="rect">
            <a:avLst/>
          </a:prstGeom>
        </p:spPr>
      </p:pic>
      <p:sp>
        <p:nvSpPr>
          <p:cNvPr id="11" name="Eval note 2"/>
          <p:cNvSpPr txBox="1"/>
          <p:nvPr/>
        </p:nvSpPr>
        <p:spPr>
          <a:xfrm>
            <a:off x="7635240" y="4663440"/>
            <a:ext cx="40050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Pass rule: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R-precision, because Precision@10 is capped when only 3–4 relevant cases exist. Disclosed in the report.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10  ·  DEMONSTRATION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From a farmer’s question to verified advice</a:t>
            </a:r>
            <a:endParaRPr lang="en-US" sz="2800" dirty="0"/>
          </a:p>
        </p:txBody>
      </p:sp>
      <p:sp>
        <p:nvSpPr>
          <p:cNvPr id="4" name="Query card"/>
          <p:cNvSpPr/>
          <p:nvPr/>
        </p:nvSpPr>
        <p:spPr>
          <a:xfrm>
            <a:off x="548640" y="160020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EEF4EC"/>
          </a:solidFill>
          <a:ln/>
        </p:spPr>
      </p:sp>
      <p:pic>
        <p:nvPicPr>
          <p:cNvPr id="5" name="Quer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10512"/>
            <a:ext cx="329184" cy="329184"/>
          </a:xfrm>
          <a:prstGeom prst="rect">
            <a:avLst/>
          </a:prstGeom>
        </p:spPr>
      </p:pic>
      <p:sp>
        <p:nvSpPr>
          <p:cNvPr id="6" name="Query text"/>
          <p:cNvSpPr txBox="1"/>
          <p:nvPr/>
        </p:nvSpPr>
        <p:spPr>
          <a:xfrm>
            <a:off x="1280160" y="1764792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“Which crops perform well in Punjab during Rabi with pH 7.8, rainfall ~600 mm, N 150?”</a:t>
            </a:r>
            <a:endParaRPr lang="en-US" sz="1500" dirty="0"/>
          </a:p>
        </p:txBody>
      </p:sp>
      <p:sp>
        <p:nvSpPr>
          <p:cNvPr id="7" name="Then label"/>
          <p:cNvSpPr txBox="1"/>
          <p:nvPr/>
        </p:nvSpPr>
        <p:spPr>
          <a:xfrm>
            <a:off x="54864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THEN</a:t>
            </a:r>
            <a:endParaRPr lang="en-US" sz="1200" dirty="0"/>
          </a:p>
        </p:txBody>
      </p:sp>
      <p:pic>
        <p:nvPicPr>
          <p:cNvPr id="8" name="Walk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19856"/>
            <a:ext cx="256032" cy="256032"/>
          </a:xfrm>
          <a:prstGeom prst="rect">
            <a:avLst/>
          </a:prstGeom>
        </p:spPr>
      </p:pic>
      <p:sp>
        <p:nvSpPr>
          <p:cNvPr id="9" name="Walk step 1"/>
          <p:cNvSpPr txBox="1"/>
          <p:nvPr/>
        </p:nvSpPr>
        <p:spPr>
          <a:xfrm>
            <a:off x="960120" y="34015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a supporting case and inspect its record</a:t>
            </a:r>
            <a:endParaRPr lang="en-US" sz="1400" dirty="0"/>
          </a:p>
        </p:txBody>
      </p:sp>
      <p:pic>
        <p:nvPicPr>
          <p:cNvPr id="10" name="Walk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40480"/>
            <a:ext cx="256032" cy="256032"/>
          </a:xfrm>
          <a:prstGeom prst="rect">
            <a:avLst/>
          </a:prstGeom>
        </p:spPr>
      </p:pic>
      <p:sp>
        <p:nvSpPr>
          <p:cNvPr id="11" name="Walk step 2"/>
          <p:cNvSpPr txBox="1"/>
          <p:nvPr/>
        </p:nvSpPr>
        <p:spPr>
          <a:xfrm>
            <a:off x="960120" y="382219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actual vs predicted yield; read the risk factors</a:t>
            </a:r>
            <a:endParaRPr lang="en-US" sz="1400" dirty="0"/>
          </a:p>
        </p:txBody>
      </p:sp>
      <p:pic>
        <p:nvPicPr>
          <p:cNvPr id="12" name="Walk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61104"/>
            <a:ext cx="256032" cy="256032"/>
          </a:xfrm>
          <a:prstGeom prst="rect">
            <a:avLst/>
          </a:prstGeom>
        </p:spPr>
      </p:pic>
      <p:sp>
        <p:nvSpPr>
          <p:cNvPr id="13" name="Walk step 3"/>
          <p:cNvSpPr txBox="1"/>
          <p:nvPr/>
        </p:nvSpPr>
        <p:spPr>
          <a:xfrm>
            <a:off x="960120" y="424281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Submit feedback and review it on the Insights page</a:t>
            </a:r>
            <a:endParaRPr lang="en-US" sz="1400" dirty="0"/>
          </a:p>
        </p:txBody>
      </p:sp>
      <p:pic>
        <p:nvPicPr>
          <p:cNvPr id="14" name="Walk 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681728"/>
            <a:ext cx="256032" cy="256032"/>
          </a:xfrm>
          <a:prstGeom prst="rect">
            <a:avLst/>
          </a:prstGeom>
        </p:spPr>
      </p:pic>
      <p:sp>
        <p:nvSpPr>
          <p:cNvPr id="15" name="Walk step 4"/>
          <p:cNvSpPr txBox="1"/>
          <p:nvPr/>
        </p:nvSpPr>
        <p:spPr>
          <a:xfrm>
            <a:off x="960120" y="46634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Re-run the evaluation pipeline</a:t>
            </a:r>
            <a:endParaRPr lang="en-US" sz="1400" dirty="0"/>
          </a:p>
        </p:txBody>
      </p:sp>
      <p:pic>
        <p:nvPicPr>
          <p:cNvPr id="16" name="Advisory screenshot" descr="Crop Advisory page screensho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1600200"/>
            <a:ext cx="5605272" cy="2081958"/>
          </a:xfrm>
          <a:prstGeom prst="rect">
            <a:avLst/>
          </a:prstGeom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pic>
      <p:sp>
        <p:nvSpPr>
          <p:cNvPr id="17" name="Stages label"/>
          <p:cNvSpPr txBox="1"/>
          <p:nvPr/>
        </p:nvSpPr>
        <p:spPr>
          <a:xfrm>
            <a:off x="54864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LIVE STAGE PROGRESS</a:t>
            </a:r>
            <a:endParaRPr lang="en-US" sz="1200" dirty="0"/>
          </a:p>
        </p:txBody>
      </p:sp>
      <p:sp>
        <p:nvSpPr>
          <p:cNvPr id="18" name="Stage 1"/>
          <p:cNvSpPr/>
          <p:nvPr/>
        </p:nvSpPr>
        <p:spPr>
          <a:xfrm>
            <a:off x="548640" y="5532120"/>
            <a:ext cx="1673352" cy="502920"/>
          </a:xfrm>
          <a:prstGeom prst="homePlat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Validate</a:t>
            </a:r>
            <a:endParaRPr lang="en-US" sz="1250" dirty="0"/>
          </a:p>
        </p:txBody>
      </p:sp>
      <p:sp>
        <p:nvSpPr>
          <p:cNvPr id="19" name="Stage 2"/>
          <p:cNvSpPr/>
          <p:nvPr/>
        </p:nvSpPr>
        <p:spPr>
          <a:xfrm>
            <a:off x="2116836" y="5532120"/>
            <a:ext cx="1673352" cy="502920"/>
          </a:xfrm>
          <a:prstGeom prst="chevron">
            <a:avLst/>
          </a:prstGeom>
          <a:solidFill>
            <a:srgbClr val="3E9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Classify</a:t>
            </a:r>
            <a:endParaRPr lang="en-US" sz="1250" dirty="0"/>
          </a:p>
        </p:txBody>
      </p:sp>
      <p:sp>
        <p:nvSpPr>
          <p:cNvPr id="20" name="Stage 3"/>
          <p:cNvSpPr/>
          <p:nvPr/>
        </p:nvSpPr>
        <p:spPr>
          <a:xfrm>
            <a:off x="3685032" y="5532120"/>
            <a:ext cx="1673352" cy="502920"/>
          </a:xfrm>
          <a:prstGeom prst="chevron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Retrieve</a:t>
            </a:r>
            <a:endParaRPr lang="en-US" sz="1250" dirty="0"/>
          </a:p>
        </p:txBody>
      </p:sp>
      <p:sp>
        <p:nvSpPr>
          <p:cNvPr id="21" name="Stage 4"/>
          <p:cNvSpPr/>
          <p:nvPr/>
        </p:nvSpPr>
        <p:spPr>
          <a:xfrm>
            <a:off x="5253228" y="5532120"/>
            <a:ext cx="1673352" cy="502920"/>
          </a:xfrm>
          <a:prstGeom prst="chevron">
            <a:avLst/>
          </a:prstGeom>
          <a:solidFill>
            <a:srgbClr val="3E9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Prioritise</a:t>
            </a:r>
            <a:endParaRPr lang="en-US" sz="1250" dirty="0"/>
          </a:p>
        </p:txBody>
      </p:sp>
      <p:sp>
        <p:nvSpPr>
          <p:cNvPr id="22" name="Stage 5"/>
          <p:cNvSpPr/>
          <p:nvPr/>
        </p:nvSpPr>
        <p:spPr>
          <a:xfrm>
            <a:off x="6821424" y="5532120"/>
            <a:ext cx="1673352" cy="502920"/>
          </a:xfrm>
          <a:prstGeom prst="chevron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Recommend</a:t>
            </a:r>
            <a:endParaRPr lang="en-US" sz="1250" dirty="0"/>
          </a:p>
        </p:txBody>
      </p:sp>
      <p:sp>
        <p:nvSpPr>
          <p:cNvPr id="23" name="Stage 6"/>
          <p:cNvSpPr/>
          <p:nvPr/>
        </p:nvSpPr>
        <p:spPr>
          <a:xfrm>
            <a:off x="8389620" y="5532120"/>
            <a:ext cx="1673352" cy="502920"/>
          </a:xfrm>
          <a:prstGeom prst="chevron">
            <a:avLst/>
          </a:prstGeom>
          <a:solidFill>
            <a:srgbClr val="3E9B6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Analyse</a:t>
            </a:r>
            <a:endParaRPr lang="en-US" sz="1250" dirty="0"/>
          </a:p>
        </p:txBody>
      </p:sp>
      <p:sp>
        <p:nvSpPr>
          <p:cNvPr id="24" name="Stage 7"/>
          <p:cNvSpPr/>
          <p:nvPr/>
        </p:nvSpPr>
        <p:spPr>
          <a:xfrm>
            <a:off x="9957816" y="5532120"/>
            <a:ext cx="1673352" cy="502920"/>
          </a:xfrm>
          <a:prstGeom prst="chevron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Judge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11  ·  CHALLENGES AND LEARNINGS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we learned building it</a:t>
            </a:r>
            <a:endParaRPr lang="en-US" sz="2800" dirty="0"/>
          </a:p>
        </p:txBody>
      </p:sp>
      <p:sp>
        <p:nvSpPr>
          <p:cNvPr id="4" name="Col head 1"/>
          <p:cNvSpPr txBox="1"/>
          <p:nvPr/>
        </p:nvSpPr>
        <p:spPr>
          <a:xfrm>
            <a:off x="54864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CHALLENGE</a:t>
            </a:r>
            <a:endParaRPr lang="en-US" sz="1200" dirty="0"/>
          </a:p>
        </p:txBody>
      </p:sp>
      <p:sp>
        <p:nvSpPr>
          <p:cNvPr id="5" name="Col head 2"/>
          <p:cNvSpPr txBox="1"/>
          <p:nvPr/>
        </p:nvSpPr>
        <p:spPr>
          <a:xfrm>
            <a:off x="4343400" y="1554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HOW WE HANDLED IT</a:t>
            </a:r>
            <a:endParaRPr lang="en-US" sz="1200" dirty="0"/>
          </a:p>
        </p:txBody>
      </p:sp>
      <p:sp>
        <p:nvSpPr>
          <p:cNvPr id="6" name="Challenge row 1"/>
          <p:cNvSpPr/>
          <p:nvPr/>
        </p:nvSpPr>
        <p:spPr>
          <a:xfrm>
            <a:off x="548640" y="1920240"/>
            <a:ext cx="6949440" cy="896112"/>
          </a:xfrm>
          <a:prstGeom prst="roundRect">
            <a:avLst>
              <a:gd name="adj" fmla="val 10204"/>
            </a:avLst>
          </a:prstGeom>
          <a:solidFill>
            <a:srgbClr val="EEF4EC"/>
          </a:solidFill>
          <a:ln/>
        </p:spPr>
      </p:sp>
      <p:sp>
        <p:nvSpPr>
          <p:cNvPr id="7" name="Challenge 1 circle"/>
          <p:cNvSpPr/>
          <p:nvPr/>
        </p:nvSpPr>
        <p:spPr>
          <a:xfrm>
            <a:off x="713232" y="2121408"/>
            <a:ext cx="493776" cy="493776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8" name="Challeng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2244852"/>
            <a:ext cx="246888" cy="246888"/>
          </a:xfrm>
          <a:prstGeom prst="rect">
            <a:avLst/>
          </a:prstGeom>
        </p:spPr>
      </p:pic>
      <p:sp>
        <p:nvSpPr>
          <p:cNvPr id="9" name="Challenge title 1"/>
          <p:cNvSpPr txBox="1"/>
          <p:nvPr/>
        </p:nvSpPr>
        <p:spPr>
          <a:xfrm>
            <a:off x="1371600" y="207568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Less real data than planned</a:t>
            </a:r>
            <a:endParaRPr lang="en-US" sz="1400" dirty="0"/>
          </a:p>
        </p:txBody>
      </p:sp>
      <p:sp>
        <p:nvSpPr>
          <p:cNvPr id="10" name="Challenge sub 1"/>
          <p:cNvSpPr txBox="1"/>
          <p:nvPr/>
        </p:nvSpPr>
        <p:spPr>
          <a:xfrm>
            <a:off x="1371600" y="2377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19,689 rows vs a 55,000 target</a:t>
            </a:r>
            <a:endParaRPr lang="en-US" sz="1150" dirty="0"/>
          </a:p>
        </p:txBody>
      </p:sp>
      <p:pic>
        <p:nvPicPr>
          <p:cNvPr id="11" name="Challenge arrow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5072" y="2249424"/>
            <a:ext cx="237744" cy="237744"/>
          </a:xfrm>
          <a:prstGeom prst="rect">
            <a:avLst/>
          </a:prstGeom>
        </p:spPr>
      </p:pic>
      <p:sp>
        <p:nvSpPr>
          <p:cNvPr id="12" name="Challenge fix 1"/>
          <p:cNvSpPr txBox="1"/>
          <p:nvPr/>
        </p:nvSpPr>
        <p:spPr>
          <a:xfrm>
            <a:off x="4343400" y="20299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Filled the gap with clearly labelled synthetic rows, kept out of model evaluation.</a:t>
            </a:r>
            <a:endParaRPr lang="en-US" sz="1300" dirty="0"/>
          </a:p>
        </p:txBody>
      </p:sp>
      <p:sp>
        <p:nvSpPr>
          <p:cNvPr id="13" name="Challenge row 2"/>
          <p:cNvSpPr/>
          <p:nvPr/>
        </p:nvSpPr>
        <p:spPr>
          <a:xfrm>
            <a:off x="548640" y="2944368"/>
            <a:ext cx="69494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EF4EC"/>
            </a:solidFill>
            <a:prstDash val="solid"/>
          </a:ln>
        </p:spPr>
      </p:sp>
      <p:sp>
        <p:nvSpPr>
          <p:cNvPr id="14" name="Challenge 2 circle"/>
          <p:cNvSpPr/>
          <p:nvPr/>
        </p:nvSpPr>
        <p:spPr>
          <a:xfrm>
            <a:off x="713232" y="3145536"/>
            <a:ext cx="493776" cy="493776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15" name="Challenge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268980"/>
            <a:ext cx="246888" cy="246888"/>
          </a:xfrm>
          <a:prstGeom prst="rect">
            <a:avLst/>
          </a:prstGeom>
        </p:spPr>
      </p:pic>
      <p:sp>
        <p:nvSpPr>
          <p:cNvPr id="16" name="Challenge title 2"/>
          <p:cNvSpPr txBox="1"/>
          <p:nvPr/>
        </p:nvSpPr>
        <p:spPr>
          <a:xfrm>
            <a:off x="1371600" y="309981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Embeddings are weak on numbers</a:t>
            </a:r>
            <a:endParaRPr lang="en-US" sz="1400" dirty="0"/>
          </a:p>
        </p:txBody>
      </p:sp>
      <p:sp>
        <p:nvSpPr>
          <p:cNvPr id="17" name="Challenge sub 2"/>
          <p:cNvSpPr txBox="1"/>
          <p:nvPr/>
        </p:nvSpPr>
        <p:spPr>
          <a:xfrm>
            <a:off x="1371600" y="34015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pH, rainfall and NPK matched poorly</a:t>
            </a:r>
            <a:endParaRPr lang="en-US" sz="1150" dirty="0"/>
          </a:p>
        </p:txBody>
      </p:sp>
      <p:pic>
        <p:nvPicPr>
          <p:cNvPr id="18" name="Challenge arrow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3273552"/>
            <a:ext cx="237744" cy="237744"/>
          </a:xfrm>
          <a:prstGeom prst="rect">
            <a:avLst/>
          </a:prstGeom>
        </p:spPr>
      </p:pic>
      <p:sp>
        <p:nvSpPr>
          <p:cNvPr id="19" name="Challenge fix 2"/>
          <p:cNvSpPr txBox="1"/>
          <p:nvPr/>
        </p:nvSpPr>
        <p:spPr>
          <a:xfrm>
            <a:off x="4343400" y="305409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Added structured numeric candidates alongside semantic retrieval.</a:t>
            </a:r>
            <a:endParaRPr lang="en-US" sz="1300" dirty="0"/>
          </a:p>
        </p:txBody>
      </p:sp>
      <p:sp>
        <p:nvSpPr>
          <p:cNvPr id="20" name="Challenge row 3"/>
          <p:cNvSpPr/>
          <p:nvPr/>
        </p:nvSpPr>
        <p:spPr>
          <a:xfrm>
            <a:off x="548640" y="3968496"/>
            <a:ext cx="6949440" cy="896112"/>
          </a:xfrm>
          <a:prstGeom prst="roundRect">
            <a:avLst>
              <a:gd name="adj" fmla="val 10204"/>
            </a:avLst>
          </a:prstGeom>
          <a:solidFill>
            <a:srgbClr val="EEF4EC"/>
          </a:solidFill>
          <a:ln/>
        </p:spPr>
      </p:sp>
      <p:sp>
        <p:nvSpPr>
          <p:cNvPr id="21" name="Challenge 3 circle"/>
          <p:cNvSpPr/>
          <p:nvPr/>
        </p:nvSpPr>
        <p:spPr>
          <a:xfrm>
            <a:off x="713232" y="4169664"/>
            <a:ext cx="493776" cy="493776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22" name="Challenge 3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4293108"/>
            <a:ext cx="246888" cy="246888"/>
          </a:xfrm>
          <a:prstGeom prst="rect">
            <a:avLst/>
          </a:prstGeom>
        </p:spPr>
      </p:pic>
      <p:sp>
        <p:nvSpPr>
          <p:cNvPr id="23" name="Challenge title 3"/>
          <p:cNvSpPr txBox="1"/>
          <p:nvPr/>
        </p:nvSpPr>
        <p:spPr>
          <a:xfrm>
            <a:off x="1371600" y="41239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 misleading pass rule</a:t>
            </a:r>
            <a:endParaRPr lang="en-US" sz="1400" dirty="0"/>
          </a:p>
        </p:txBody>
      </p:sp>
      <p:sp>
        <p:nvSpPr>
          <p:cNvPr id="24" name="Challenge sub 3"/>
          <p:cNvSpPr txBox="1"/>
          <p:nvPr/>
        </p:nvSpPr>
        <p:spPr>
          <a:xfrm>
            <a:off x="1371600" y="442569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Precision@10 failed perfect retrievals</a:t>
            </a:r>
            <a:endParaRPr lang="en-US" sz="1150" dirty="0"/>
          </a:p>
        </p:txBody>
      </p:sp>
      <p:pic>
        <p:nvPicPr>
          <p:cNvPr id="25" name="Challenge arrow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5072" y="4297680"/>
            <a:ext cx="237744" cy="237744"/>
          </a:xfrm>
          <a:prstGeom prst="rect">
            <a:avLst/>
          </a:prstGeom>
        </p:spPr>
      </p:pic>
      <p:sp>
        <p:nvSpPr>
          <p:cNvPr id="26" name="Challenge fix 3"/>
          <p:cNvSpPr txBox="1"/>
          <p:nvPr/>
        </p:nvSpPr>
        <p:spPr>
          <a:xfrm>
            <a:off x="4343400" y="407822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Switched to R-precision and disclosed the change.</a:t>
            </a:r>
            <a:endParaRPr lang="en-US" sz="1300" dirty="0"/>
          </a:p>
        </p:txBody>
      </p:sp>
      <p:sp>
        <p:nvSpPr>
          <p:cNvPr id="27" name="Challenge row 4"/>
          <p:cNvSpPr/>
          <p:nvPr/>
        </p:nvSpPr>
        <p:spPr>
          <a:xfrm>
            <a:off x="548640" y="4992624"/>
            <a:ext cx="694944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EEF4EC"/>
            </a:solidFill>
            <a:prstDash val="solid"/>
          </a:ln>
        </p:spPr>
      </p:sp>
      <p:sp>
        <p:nvSpPr>
          <p:cNvPr id="28" name="Challenge 4 circle"/>
          <p:cNvSpPr/>
          <p:nvPr/>
        </p:nvSpPr>
        <p:spPr>
          <a:xfrm>
            <a:off x="713232" y="5193792"/>
            <a:ext cx="493776" cy="493776"/>
          </a:xfrm>
          <a:prstGeom prst="ellipse">
            <a:avLst/>
          </a:prstGeom>
          <a:solidFill>
            <a:srgbClr val="1E6B3C"/>
          </a:solidFill>
          <a:ln/>
        </p:spPr>
      </p:sp>
      <p:pic>
        <p:nvPicPr>
          <p:cNvPr id="29" name="Challenge 4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" y="5317236"/>
            <a:ext cx="246888" cy="246888"/>
          </a:xfrm>
          <a:prstGeom prst="rect">
            <a:avLst/>
          </a:prstGeom>
        </p:spPr>
      </p:pic>
      <p:sp>
        <p:nvSpPr>
          <p:cNvPr id="30" name="Challenge title 4"/>
          <p:cNvSpPr txBox="1"/>
          <p:nvPr/>
        </p:nvSpPr>
        <p:spPr>
          <a:xfrm>
            <a:off x="1371600" y="514807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LLM availability failures</a:t>
            </a:r>
            <a:endParaRPr lang="en-US" sz="1400" dirty="0"/>
          </a:p>
        </p:txBody>
      </p:sp>
      <p:sp>
        <p:nvSpPr>
          <p:cNvPr id="31" name="Challenge sub 4"/>
          <p:cNvSpPr txBox="1"/>
          <p:nvPr/>
        </p:nvSpPr>
        <p:spPr>
          <a:xfrm>
            <a:off x="1371600" y="544982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Billing and outages</a:t>
            </a:r>
            <a:endParaRPr lang="en-US" sz="1150" dirty="0"/>
          </a:p>
        </p:txBody>
      </p:sp>
      <p:pic>
        <p:nvPicPr>
          <p:cNvPr id="32" name="Challenge arrow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5072" y="5321808"/>
            <a:ext cx="237744" cy="237744"/>
          </a:xfrm>
          <a:prstGeom prst="rect">
            <a:avLst/>
          </a:prstGeom>
        </p:spPr>
      </p:pic>
      <p:sp>
        <p:nvSpPr>
          <p:cNvPr id="33" name="Challenge fix 4"/>
          <p:cNvSpPr txBox="1"/>
          <p:nvPr/>
        </p:nvSpPr>
        <p:spPr>
          <a:xfrm>
            <a:off x="4343400" y="510235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Graceful degradation; metrics stay honest and show “Not evaluated”.</a:t>
            </a:r>
            <a:endParaRPr lang="en-US" sz="1300" dirty="0"/>
          </a:p>
        </p:txBody>
      </p:sp>
      <p:sp>
        <p:nvSpPr>
          <p:cNvPr id="34" name="Next steps card"/>
          <p:cNvSpPr/>
          <p:nvPr/>
        </p:nvSpPr>
        <p:spPr>
          <a:xfrm>
            <a:off x="7863840" y="1554480"/>
            <a:ext cx="3776472" cy="4462272"/>
          </a:xfrm>
          <a:prstGeom prst="roundRect">
            <a:avLst>
              <a:gd name="adj" fmla="val 2906"/>
            </a:avLst>
          </a:prstGeom>
          <a:solidFill>
            <a:srgbClr val="0D2818"/>
          </a:solidFill>
          <a:ln/>
        </p:spPr>
      </p:sp>
      <p:sp>
        <p:nvSpPr>
          <p:cNvPr id="35" name="Next steps circle"/>
          <p:cNvSpPr/>
          <p:nvPr/>
        </p:nvSpPr>
        <p:spPr>
          <a:xfrm>
            <a:off x="8138160" y="1828800"/>
            <a:ext cx="566928" cy="566928"/>
          </a:xfrm>
          <a:prstGeom prst="ellipse">
            <a:avLst/>
          </a:prstGeom>
          <a:solidFill>
            <a:srgbClr val="A6D93E"/>
          </a:solidFill>
          <a:ln/>
        </p:spPr>
      </p:sp>
      <p:pic>
        <p:nvPicPr>
          <p:cNvPr id="36" name="Next steps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9892" y="1970532"/>
            <a:ext cx="283464" cy="283464"/>
          </a:xfrm>
          <a:prstGeom prst="rect">
            <a:avLst/>
          </a:prstGeom>
        </p:spPr>
      </p:pic>
      <p:sp>
        <p:nvSpPr>
          <p:cNvPr id="37" name="Next steps title"/>
          <p:cNvSpPr txBox="1"/>
          <p:nvPr/>
        </p:nvSpPr>
        <p:spPr>
          <a:xfrm>
            <a:off x="8138160" y="2560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Next steps</a:t>
            </a:r>
            <a:endParaRPr lang="en-US" sz="2200" dirty="0"/>
          </a:p>
        </p:txBody>
      </p:sp>
      <p:sp>
        <p:nvSpPr>
          <p:cNvPr id="38" name="Next num 1"/>
          <p:cNvSpPr/>
          <p:nvPr/>
        </p:nvSpPr>
        <p:spPr>
          <a:xfrm>
            <a:off x="8138160" y="3154680"/>
            <a:ext cx="329184" cy="329184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</p:txBody>
      </p:sp>
      <p:sp>
        <p:nvSpPr>
          <p:cNvPr id="39" name="Next item 1"/>
          <p:cNvSpPr txBox="1"/>
          <p:nvPr/>
        </p:nvSpPr>
        <p:spPr>
          <a:xfrm>
            <a:off x="8613648" y="313639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More granular soil data (below state level)</a:t>
            </a:r>
            <a:endParaRPr lang="en-US" sz="1400" dirty="0"/>
          </a:p>
        </p:txBody>
      </p:sp>
      <p:sp>
        <p:nvSpPr>
          <p:cNvPr id="40" name="Next num 2"/>
          <p:cNvSpPr/>
          <p:nvPr/>
        </p:nvSpPr>
        <p:spPr>
          <a:xfrm>
            <a:off x="8138160" y="4050792"/>
            <a:ext cx="329184" cy="329184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</p:txBody>
      </p:sp>
      <p:sp>
        <p:nvSpPr>
          <p:cNvPr id="41" name="Next item 2"/>
          <p:cNvSpPr txBox="1"/>
          <p:nvPr/>
        </p:nvSpPr>
        <p:spPr>
          <a:xfrm>
            <a:off x="8613648" y="403250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Farm-level labels to train a real suitability classifier</a:t>
            </a:r>
            <a:endParaRPr lang="en-US" sz="1400" dirty="0"/>
          </a:p>
        </p:txBody>
      </p:sp>
      <p:sp>
        <p:nvSpPr>
          <p:cNvPr id="42" name="Next num 3"/>
          <p:cNvSpPr/>
          <p:nvPr/>
        </p:nvSpPr>
        <p:spPr>
          <a:xfrm>
            <a:off x="8138160" y="4946904"/>
            <a:ext cx="329184" cy="329184"/>
          </a:xfrm>
          <a:prstGeom prst="ellipse">
            <a:avLst/>
          </a:prstGeom>
          <a:solidFill>
            <a:srgbClr val="1E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</p:txBody>
      </p:sp>
      <p:sp>
        <p:nvSpPr>
          <p:cNvPr id="43" name="Next item 3"/>
          <p:cNvSpPr txBox="1"/>
          <p:nvPr/>
        </p:nvSpPr>
        <p:spPr>
          <a:xfrm>
            <a:off x="8613648" y="492861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Calibrated prediction intervals that hit nominal coverage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2801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240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Questions and discussion</a:t>
            </a:r>
            <a:endParaRPr lang="en-US" sz="2400" dirty="0"/>
          </a:p>
        </p:txBody>
      </p:sp>
      <p:sp>
        <p:nvSpPr>
          <p:cNvPr id="4" name="Closing footer"/>
          <p:cNvSpPr txBox="1"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TerraMind AI  ·  Smarter crop decisions. Evidence-driven farming.</a:t>
            </a:r>
            <a:endParaRPr lang="en-US" sz="1300" dirty="0"/>
          </a:p>
        </p:txBody>
      </p:sp>
      <p:sp>
        <p:nvSpPr>
          <p:cNvPr id="5" name="Takeaway card 1"/>
          <p:cNvSpPr/>
          <p:nvPr/>
        </p:nvSpPr>
        <p:spPr>
          <a:xfrm>
            <a:off x="6675120" y="1280160"/>
            <a:ext cx="4965192" cy="1143000"/>
          </a:xfrm>
          <a:prstGeom prst="roundRect">
            <a:avLst>
              <a:gd name="adj" fmla="val 9600"/>
            </a:avLst>
          </a:prstGeom>
          <a:solidFill>
            <a:srgbClr val="173D27"/>
          </a:solidFill>
          <a:ln/>
        </p:spPr>
      </p:sp>
      <p:sp>
        <p:nvSpPr>
          <p:cNvPr id="6" name="Takeaway 1 circle"/>
          <p:cNvSpPr/>
          <p:nvPr/>
        </p:nvSpPr>
        <p:spPr>
          <a:xfrm>
            <a:off x="6903720" y="1554480"/>
            <a:ext cx="594360" cy="594360"/>
          </a:xfrm>
          <a:prstGeom prst="ellipse">
            <a:avLst/>
          </a:prstGeom>
          <a:solidFill>
            <a:srgbClr val="A6D93E"/>
          </a:solidFill>
          <a:ln/>
        </p:spPr>
      </p:sp>
      <p:pic>
        <p:nvPicPr>
          <p:cNvPr id="7" name="Takeawa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2310" y="1703070"/>
            <a:ext cx="297180" cy="297180"/>
          </a:xfrm>
          <a:prstGeom prst="rect">
            <a:avLst/>
          </a:prstGeom>
        </p:spPr>
      </p:pic>
      <p:sp>
        <p:nvSpPr>
          <p:cNvPr id="8" name="Takeaway title 1"/>
          <p:cNvSpPr txBox="1"/>
          <p:nvPr/>
        </p:nvSpPr>
        <p:spPr>
          <a:xfrm>
            <a:off x="772668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Evidence first</a:t>
            </a:r>
            <a:endParaRPr lang="en-US" sz="1700" dirty="0"/>
          </a:p>
        </p:txBody>
      </p:sp>
      <p:sp>
        <p:nvSpPr>
          <p:cNvPr id="9" name="Takeaway text 1"/>
          <p:cNvSpPr txBox="1"/>
          <p:nvPr/>
        </p:nvSpPr>
        <p:spPr>
          <a:xfrm>
            <a:off x="7726680" y="1810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Every recommendation traces back to real historical cases.</a:t>
            </a:r>
            <a:endParaRPr lang="en-US" sz="1300" dirty="0"/>
          </a:p>
        </p:txBody>
      </p:sp>
      <p:sp>
        <p:nvSpPr>
          <p:cNvPr id="10" name="Takeaway card 2"/>
          <p:cNvSpPr/>
          <p:nvPr/>
        </p:nvSpPr>
        <p:spPr>
          <a:xfrm>
            <a:off x="6675120" y="2651760"/>
            <a:ext cx="4965192" cy="1143000"/>
          </a:xfrm>
          <a:prstGeom prst="roundRect">
            <a:avLst>
              <a:gd name="adj" fmla="val 9600"/>
            </a:avLst>
          </a:prstGeom>
          <a:solidFill>
            <a:srgbClr val="173D27"/>
          </a:solidFill>
          <a:ln/>
        </p:spPr>
      </p:sp>
      <p:sp>
        <p:nvSpPr>
          <p:cNvPr id="11" name="Takeaway 2 circle"/>
          <p:cNvSpPr/>
          <p:nvPr/>
        </p:nvSpPr>
        <p:spPr>
          <a:xfrm>
            <a:off x="6903720" y="2926080"/>
            <a:ext cx="594360" cy="594360"/>
          </a:xfrm>
          <a:prstGeom prst="ellipse">
            <a:avLst/>
          </a:prstGeom>
          <a:solidFill>
            <a:srgbClr val="A6D93E"/>
          </a:solidFill>
          <a:ln/>
        </p:spPr>
      </p:sp>
      <p:pic>
        <p:nvPicPr>
          <p:cNvPr id="12" name="Takeawa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2310" y="3074670"/>
            <a:ext cx="297180" cy="297180"/>
          </a:xfrm>
          <a:prstGeom prst="rect">
            <a:avLst/>
          </a:prstGeom>
        </p:spPr>
      </p:pic>
      <p:sp>
        <p:nvSpPr>
          <p:cNvPr id="13" name="Takeaway title 2"/>
          <p:cNvSpPr txBox="1"/>
          <p:nvPr/>
        </p:nvSpPr>
        <p:spPr>
          <a:xfrm>
            <a:off x="772668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Honest by design</a:t>
            </a:r>
            <a:endParaRPr lang="en-US" sz="1700" dirty="0"/>
          </a:p>
        </p:txBody>
      </p:sp>
      <p:sp>
        <p:nvSpPr>
          <p:cNvPr id="14" name="Takeaway text 2"/>
          <p:cNvSpPr txBox="1"/>
          <p:nvPr/>
        </p:nvSpPr>
        <p:spPr>
          <a:xfrm>
            <a:off x="7726680" y="31821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Estimates are labelled; gaps are reported, never hidden.</a:t>
            </a:r>
            <a:endParaRPr lang="en-US" sz="1300" dirty="0"/>
          </a:p>
        </p:txBody>
      </p:sp>
      <p:sp>
        <p:nvSpPr>
          <p:cNvPr id="15" name="Takeaway card 3"/>
          <p:cNvSpPr/>
          <p:nvPr/>
        </p:nvSpPr>
        <p:spPr>
          <a:xfrm>
            <a:off x="6675120" y="4023360"/>
            <a:ext cx="4965192" cy="1143000"/>
          </a:xfrm>
          <a:prstGeom prst="roundRect">
            <a:avLst>
              <a:gd name="adj" fmla="val 9600"/>
            </a:avLst>
          </a:prstGeom>
          <a:solidFill>
            <a:srgbClr val="173D27"/>
          </a:solidFill>
          <a:ln/>
        </p:spPr>
      </p:sp>
      <p:sp>
        <p:nvSpPr>
          <p:cNvPr id="16" name="Takeaway 3 circle"/>
          <p:cNvSpPr/>
          <p:nvPr/>
        </p:nvSpPr>
        <p:spPr>
          <a:xfrm>
            <a:off x="6903720" y="4297680"/>
            <a:ext cx="594360" cy="594360"/>
          </a:xfrm>
          <a:prstGeom prst="ellipse">
            <a:avLst/>
          </a:prstGeom>
          <a:solidFill>
            <a:srgbClr val="A6D93E"/>
          </a:solidFill>
          <a:ln/>
        </p:spPr>
      </p:sp>
      <p:pic>
        <p:nvPicPr>
          <p:cNvPr id="17" name="Takeawa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310" y="4446270"/>
            <a:ext cx="297180" cy="297180"/>
          </a:xfrm>
          <a:prstGeom prst="rect">
            <a:avLst/>
          </a:prstGeom>
        </p:spPr>
      </p:pic>
      <p:sp>
        <p:nvSpPr>
          <p:cNvPr id="18" name="Takeaway title 3"/>
          <p:cNvSpPr txBox="1"/>
          <p:nvPr/>
        </p:nvSpPr>
        <p:spPr>
          <a:xfrm>
            <a:off x="7726680" y="4206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Built end to end</a:t>
            </a:r>
            <a:endParaRPr lang="en-US" sz="1700" dirty="0"/>
          </a:p>
        </p:txBody>
      </p:sp>
      <p:sp>
        <p:nvSpPr>
          <p:cNvPr id="19" name="Takeaway text 3"/>
          <p:cNvSpPr txBox="1"/>
          <p:nvPr/>
        </p:nvSpPr>
        <p:spPr>
          <a:xfrm>
            <a:off x="7726680" y="45537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FastAPI + React, evaluation pipeline and a feedback loop.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raMind">
  <a:themeElements>
    <a:clrScheme name="TerraMind">
      <a:dk1>
        <a:srgbClr val="15291E"/>
      </a:dk1>
      <a:lt1>
        <a:srgbClr val="FFFFFF"/>
      </a:lt1>
      <a:dk2>
        <a:srgbClr val="0D2818"/>
      </a:dk2>
      <a:lt2>
        <a:srgbClr val="EEF4EC"/>
      </a:lt2>
      <a:accent1>
        <a:srgbClr val="1E6B3C"/>
      </a:accent1>
      <a:accent2>
        <a:srgbClr val="A6D93E"/>
      </a:accent2>
      <a:accent3>
        <a:srgbClr val="5E7466"/>
      </a:accent3>
      <a:accent4>
        <a:srgbClr val="B7790B"/>
      </a:accent4>
      <a:accent5>
        <a:srgbClr val="3E9B63"/>
      </a:accent5>
      <a:accent6>
        <a:srgbClr val="D7E6D2"/>
      </a:accent6>
      <a:hlink>
        <a:srgbClr val="1E6B3C"/>
      </a:hlink>
      <a:folHlink>
        <a:srgbClr val="5E7466"/>
      </a:folHlink>
    </a:clrScheme>
    <a:fontScheme name="TerraMin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TerraMind AI — Capstone Presentation</dc:title>
  <dc:subject>AI-powered agriculture crop advisory assistant</dc:subject>
  <dc:creator>PptxGenJS</dc:creator>
  <cp:lastModifiedBy>PptxGenJS</cp:lastModifiedBy>
  <cp:revision>1</cp:revision>
  <dcterms:created xsi:type="dcterms:W3CDTF">2026-10-11T16:59:56Z</dcterms:created>
  <dcterms:modified xsi:type="dcterms:W3CDTF">2026-10-11T16:59:56Z</dcterms:modified>
</cp:coreProperties>
</file>